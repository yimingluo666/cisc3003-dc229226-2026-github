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63" r:id="rId3"/>
    <p:sldId id="265" r:id="rId4"/>
    <p:sldId id="264" r:id="rId5"/>
    <p:sldId id="268" r:id="rId6"/>
    <p:sldId id="269" r:id="rId7"/>
    <p:sldId id="270" r:id="rId8"/>
    <p:sldId id="267" r:id="rId9"/>
    <p:sldId id="271" r:id="rId10"/>
    <p:sldId id="272" r:id="rId11"/>
    <p:sldId id="273" r:id="rId12"/>
    <p:sldId id="274" r:id="rId13"/>
    <p:sldId id="275" r:id="rId14"/>
    <p:sldId id="277" r:id="rId15"/>
    <p:sldId id="278" r:id="rId16"/>
    <p:sldId id="279" r:id="rId17"/>
    <p:sldId id="280" r:id="rId18"/>
    <p:sldId id="281"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34"/>
    <p:restoredTop sz="96260"/>
  </p:normalViewPr>
  <p:slideViewPr>
    <p:cSldViewPr snapToGrid="0">
      <p:cViewPr>
        <p:scale>
          <a:sx n="120" d="100"/>
          <a:sy n="120" d="100"/>
        </p:scale>
        <p:origin x="448"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FA1D15-3273-4246-AC14-F0D735AE2248}" type="datetimeFigureOut">
              <a:rPr kumimoji="1" lang="zh-CN" altLang="en-US" smtClean="0"/>
              <a:t>2026/5/10</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C28EE6-308A-B44B-968B-98E091A3F2F6}" type="slidenum">
              <a:rPr kumimoji="1" lang="zh-CN" altLang="en-US" smtClean="0"/>
              <a:t>‹#›</a:t>
            </a:fld>
            <a:endParaRPr kumimoji="1" lang="zh-CN" altLang="en-US"/>
          </a:p>
        </p:txBody>
      </p:sp>
    </p:spTree>
    <p:extLst>
      <p:ext uri="{BB962C8B-B14F-4D97-AF65-F5344CB8AC3E}">
        <p14:creationId xmlns:p14="http://schemas.microsoft.com/office/powerpoint/2010/main" val="2520208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Hello everyone. Today I'll talk about the core services and data requirements of our project. This is platform providing precise information for CS students' dual paths: further studies and employment.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71434-6BA7-D533-398F-DC67265580A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7EDB4D-B02F-8155-EB85-E3B56579A28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F0FF512-DF20-8982-1141-C7654C889C8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3305A64-C192-1421-85A5-40B8BF95994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578369A-B88B-46EF-5A05-3AD9C73AD09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4127BD65-7614-0382-4F09-0DE8B8FBD6B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96D2F53-0E1C-C4F0-D6FC-C4452314088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759162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BF8E9-62AA-8A6E-D51B-100D698B23D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32A9BA-F620-0EAB-3C51-F1D88875EB3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91CD887-EDF0-6DF0-3FCC-ABF43D0709B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BA2034B-9DCB-7F85-4AD5-2FA744ACC2F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BFCDC04-71F4-969C-0E26-292B8BD86C23}"/>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3F7762E6-30F7-6A7E-8031-3AB4F654841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10C0F24-DC1E-63FD-F454-96EDE89B9D0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338206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6D6B6-7E1F-3F01-6AB0-8E7A08B8C87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036BB0-4228-714E-90ED-8CCBC4C57D5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F3128B0B-3C5A-B1AA-B5D8-4D9995B218D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6C2E8E9-67D1-5E7F-A6AC-D0F7F98CCDD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93D7156-07EC-4F4A-C1F6-88E35DC5BB1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D0ED1EB6-1A86-AACB-659E-ACA84D7BB80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FA68177-100D-9B26-4B30-AE14380A8EC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590658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8FCA4-288D-80D4-3BC9-61209913A97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46997C-47AB-90B2-EE97-58E691AD4C7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0C83BAA-95F2-021B-F19B-EEB0C2D1AFC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36466FF-7962-6237-6618-764931BA06B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FE46B6D-D313-C444-8B85-49F2DF3F704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C0AC7FD4-E0E8-82E6-DF44-7F3B55FD2EC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BA86BD6-9AD1-B9A2-18D2-4603B61EF91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68906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073EF-699E-EF74-476A-9587F932C95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6FF147C-4BD2-178D-FF15-5BD5CF6E0C8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9E06605-2F2C-4AFC-C1A7-1471E0FE93A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9E969FE-16D0-B0C2-202A-E3509514ACFC}"/>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FA5C7C5-65E2-2E7E-2001-E4814FCE022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4B399781-5228-63A4-9334-18079A157D3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96C6625-1191-0767-CB94-B5E22641F33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027787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550CD-C874-7C2C-1BA7-39C8669E8B6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45B9F0-1E84-E183-C370-EEE3786B8CB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59930379-1C30-615D-0DFA-6480B731F0A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8FC95A3-66EE-3B2B-4C52-76727F3F675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34930DE-788F-35DB-B8AB-609C70727AB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6E8C2F14-BBCB-BF2D-409B-7AFD1DE5930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E60BEDF-1239-9C0E-A60F-58398565633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11284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EE8F1-9C76-A604-683D-C04D0518132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B8391233-5D00-E837-E536-3EF1B4BFDF8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A9DD385-40EF-5FF5-EE03-D4468B56854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37A1B10-24A8-4B63-31ED-CB5ED6F25A5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03149D5-D31E-6B84-5816-5E4A73EDBC2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F5EEC7B6-8842-5D21-843F-C2A119B5DB8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6C3FDED-924A-0612-134B-B168B12BD4F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1184904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18578-488A-211C-1B2B-DD5C05EDFB2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90A721-ACE4-58BC-6F0E-1EF8F84BFA3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BD8FAAB-6D1D-BE1B-A9E5-6869FEA1F89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4265B68-3440-A9F6-64EA-321CCFD76E8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CD22138-7BA0-0766-8F71-BD2212BD662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1C98A295-CD6E-A069-8F22-C0C7BA98065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416A582-C42E-9146-9BB1-637C6FD83C5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27069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07C66-18D8-5873-DD54-41B5B4982F0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AE7762-1C02-F8B8-E53C-4499CDF2309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F6FB668-318B-0DE1-5481-3F16F842412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CCB4319-9063-FEAE-4632-489B2F3C3A1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25AEC8E-87FF-36BB-C1C9-44BDA19E137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FD56D4AD-B1D9-C0A5-4C64-3B5F2A3EBC5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A801E0E-AD64-A33A-2E1E-FBA6BAD1A04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14071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CF340-DB8D-B574-8A08-9D2431227D43}"/>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6FCF6F-A1E9-D3D0-7E5C-9C2694C8A8F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FA65639-DC5F-FF3A-CD19-04DBC5B315C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093E4CBF-54D7-6D1C-CC2D-D363898DA07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1F55FF0-06CE-129D-91F0-A48E91FE99B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3A605C0E-508F-6CE6-FE08-390FBBBD85A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729C14E-340D-8E2B-80C7-6356854CE21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764036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9E74D-4A89-6810-9D21-3069ABC2578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96FD3EA-5516-988C-0229-85653A01459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DFA0487-4EDE-DA76-8205-31BF21F8993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F0DCB21-8D67-D519-3DF2-1CDF3BB9A64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2E89504-5062-7FCC-8948-A4C903F0EA4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4C320467-748D-8651-7CCA-C302217F2698}"/>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A1A46F3-36FA-B359-93DB-5FF0C6EC87B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019943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304FD-0BB6-CF0E-3BCB-F176F452081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AAA50145-A3E9-18B8-84A3-0920BE5BB3A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CC971C92-875E-82CF-F5E2-971BFBBDB23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C49E5F5-B2E4-01B1-E1D3-73BC9CA2739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7027486-9BA8-822C-C297-51622BD52FC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587E3DA0-16F4-77CF-9426-50DF0CED6E4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71B9253-69B9-456C-DB67-535C0D927BB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076922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DD124-E133-10EA-5103-B26D9DDC008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2EAFC44-7499-08CD-D544-2C3EA5B04D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AE6A14F-190D-1019-9329-0F6D2F18A6F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5304223-355B-873C-B7DE-DA8AECEB0AE5}"/>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D5E3C20-D8BC-ACB7-C7F3-84A7AB47BDC1}"/>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A716B9A2-53F0-F0D2-B787-5F222155EA1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B2B33CC-775F-C2CC-7971-641F172CBC7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2482603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C7F07-AB5A-1657-4CFF-7E3EAFA8E7F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81ECAD-5C05-91A3-BB09-6A00413109E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D875220-C817-9FE3-B58D-58831EBCE95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2D94BD1-DAB2-A82B-237E-D4105238F15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0DCF75B-EDC3-138C-53AA-3F0DF6045E9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focus on two parts: First, postgraduate applications, it offers global university ratings, major comparisons, and application strategies. Second, the direct employment, compiling mainstream technical roles and hiring requirements from top companies. Our homepage allows users to switch between these two tracks seamlessly.</a:t>
            </a:r>
          </a:p>
        </p:txBody>
      </p:sp>
      <p:sp>
        <p:nvSpPr>
          <p:cNvPr id="6" name="Footer Placeholder 5">
            <a:extLst>
              <a:ext uri="{FF2B5EF4-FFF2-40B4-BE49-F238E27FC236}">
                <a16:creationId xmlns:a16="http://schemas.microsoft.com/office/drawing/2014/main" id="{5CB999C6-1B7F-2F81-FDC7-6BEF3020926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2E05F6C-3F0D-78DD-0468-BCF89AE18EB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43486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A8BD93-147A-CBE0-9939-10FC83E92129}"/>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9BDCF98A-A809-7A59-C7E8-E488304906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7313D524-0825-D608-A885-B3FDFB52F39A}"/>
              </a:ext>
            </a:extLst>
          </p:cNvPr>
          <p:cNvSpPr>
            <a:spLocks noGrp="1"/>
          </p:cNvSpPr>
          <p:nvPr>
            <p:ph type="dt" sz="half" idx="10"/>
          </p:nvPr>
        </p:nvSpPr>
        <p:spPr/>
        <p:txBody>
          <a:bodyPr/>
          <a:lstStyle/>
          <a:p>
            <a:fld id="{D001FB1A-E788-5948-A490-F8997DEF0245}" type="datetimeFigureOut">
              <a:rPr kumimoji="1" lang="zh-CN" altLang="en-US" smtClean="0"/>
              <a:t>2026/5/10</a:t>
            </a:fld>
            <a:endParaRPr kumimoji="1" lang="zh-CN" altLang="en-US"/>
          </a:p>
        </p:txBody>
      </p:sp>
      <p:sp>
        <p:nvSpPr>
          <p:cNvPr id="5" name="页脚占位符 4">
            <a:extLst>
              <a:ext uri="{FF2B5EF4-FFF2-40B4-BE49-F238E27FC236}">
                <a16:creationId xmlns:a16="http://schemas.microsoft.com/office/drawing/2014/main" id="{63210302-7BA3-9C92-011C-AEA9F06FD1C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72ED273-C8B0-B5FB-FF3C-C49222BF18E4}"/>
              </a:ext>
            </a:extLst>
          </p:cNvPr>
          <p:cNvSpPr>
            <a:spLocks noGrp="1"/>
          </p:cNvSpPr>
          <p:nvPr>
            <p:ph type="sldNum" sz="quarter" idx="12"/>
          </p:nvPr>
        </p:nvSpPr>
        <p:spPr/>
        <p:txBody>
          <a:bodyPr/>
          <a:lstStyle/>
          <a:p>
            <a:fld id="{80912922-230E-0C4C-B42D-EFDE6D3DD215}" type="slidenum">
              <a:rPr kumimoji="1" lang="zh-CN" altLang="en-US" smtClean="0"/>
              <a:t>‹#›</a:t>
            </a:fld>
            <a:endParaRPr kumimoji="1" lang="zh-CN" altLang="en-US"/>
          </a:p>
        </p:txBody>
      </p:sp>
    </p:spTree>
    <p:extLst>
      <p:ext uri="{BB962C8B-B14F-4D97-AF65-F5344CB8AC3E}">
        <p14:creationId xmlns:p14="http://schemas.microsoft.com/office/powerpoint/2010/main" val="2288876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039B45-37A4-AE94-2399-DDAAEFCE7AA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23770DBD-2293-5C64-FC11-96F5034C3008}"/>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246AC54-AEE4-5C65-04C7-B75AEB4BB620}"/>
              </a:ext>
            </a:extLst>
          </p:cNvPr>
          <p:cNvSpPr>
            <a:spLocks noGrp="1"/>
          </p:cNvSpPr>
          <p:nvPr>
            <p:ph type="dt" sz="half" idx="10"/>
          </p:nvPr>
        </p:nvSpPr>
        <p:spPr/>
        <p:txBody>
          <a:bodyPr/>
          <a:lstStyle/>
          <a:p>
            <a:fld id="{D001FB1A-E788-5948-A490-F8997DEF0245}" type="datetimeFigureOut">
              <a:rPr kumimoji="1" lang="zh-CN" altLang="en-US" smtClean="0"/>
              <a:t>2026/5/10</a:t>
            </a:fld>
            <a:endParaRPr kumimoji="1" lang="zh-CN" altLang="en-US"/>
          </a:p>
        </p:txBody>
      </p:sp>
      <p:sp>
        <p:nvSpPr>
          <p:cNvPr id="5" name="页脚占位符 4">
            <a:extLst>
              <a:ext uri="{FF2B5EF4-FFF2-40B4-BE49-F238E27FC236}">
                <a16:creationId xmlns:a16="http://schemas.microsoft.com/office/drawing/2014/main" id="{5CDBE543-2F6B-FF1F-B90A-9C75DA71BC9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5523780-806F-0098-98DE-3B63DE7EC62A}"/>
              </a:ext>
            </a:extLst>
          </p:cNvPr>
          <p:cNvSpPr>
            <a:spLocks noGrp="1"/>
          </p:cNvSpPr>
          <p:nvPr>
            <p:ph type="sldNum" sz="quarter" idx="12"/>
          </p:nvPr>
        </p:nvSpPr>
        <p:spPr/>
        <p:txBody>
          <a:bodyPr/>
          <a:lstStyle/>
          <a:p>
            <a:fld id="{80912922-230E-0C4C-B42D-EFDE6D3DD215}" type="slidenum">
              <a:rPr kumimoji="1" lang="zh-CN" altLang="en-US" smtClean="0"/>
              <a:t>‹#›</a:t>
            </a:fld>
            <a:endParaRPr kumimoji="1" lang="zh-CN" altLang="en-US"/>
          </a:p>
        </p:txBody>
      </p:sp>
    </p:spTree>
    <p:extLst>
      <p:ext uri="{BB962C8B-B14F-4D97-AF65-F5344CB8AC3E}">
        <p14:creationId xmlns:p14="http://schemas.microsoft.com/office/powerpoint/2010/main" val="273139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A8236-9CA2-9137-A4FA-AB450BB667FF}"/>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65D5AA07-D0DF-B218-DD02-39423480E6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B2F0B9B4-E3AB-2816-4EC0-22AC96B332E4}"/>
              </a:ext>
            </a:extLst>
          </p:cNvPr>
          <p:cNvSpPr>
            <a:spLocks noGrp="1"/>
          </p:cNvSpPr>
          <p:nvPr>
            <p:ph type="dt" sz="half" idx="10"/>
          </p:nvPr>
        </p:nvSpPr>
        <p:spPr/>
        <p:txBody>
          <a:bodyPr/>
          <a:lstStyle/>
          <a:p>
            <a:fld id="{D001FB1A-E788-5948-A490-F8997DEF0245}" type="datetimeFigureOut">
              <a:rPr kumimoji="1" lang="zh-CN" altLang="en-US" smtClean="0"/>
              <a:t>2026/5/10</a:t>
            </a:fld>
            <a:endParaRPr kumimoji="1" lang="zh-CN" altLang="en-US"/>
          </a:p>
        </p:txBody>
      </p:sp>
      <p:sp>
        <p:nvSpPr>
          <p:cNvPr id="5" name="页脚占位符 4">
            <a:extLst>
              <a:ext uri="{FF2B5EF4-FFF2-40B4-BE49-F238E27FC236}">
                <a16:creationId xmlns:a16="http://schemas.microsoft.com/office/drawing/2014/main" id="{2E212EE8-92E1-4447-787F-A96D935B1B9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11A74FD-F7D7-63FD-8413-F45961755902}"/>
              </a:ext>
            </a:extLst>
          </p:cNvPr>
          <p:cNvSpPr>
            <a:spLocks noGrp="1"/>
          </p:cNvSpPr>
          <p:nvPr>
            <p:ph type="sldNum" sz="quarter" idx="12"/>
          </p:nvPr>
        </p:nvSpPr>
        <p:spPr/>
        <p:txBody>
          <a:bodyPr/>
          <a:lstStyle/>
          <a:p>
            <a:fld id="{80912922-230E-0C4C-B42D-EFDE6D3DD215}" type="slidenum">
              <a:rPr kumimoji="1" lang="zh-CN" altLang="en-US" smtClean="0"/>
              <a:t>‹#›</a:t>
            </a:fld>
            <a:endParaRPr kumimoji="1" lang="zh-CN" altLang="en-US"/>
          </a:p>
        </p:txBody>
      </p:sp>
    </p:spTree>
    <p:extLst>
      <p:ext uri="{BB962C8B-B14F-4D97-AF65-F5344CB8AC3E}">
        <p14:creationId xmlns:p14="http://schemas.microsoft.com/office/powerpoint/2010/main" val="3625335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DB2F3B-5D23-0250-8E3F-6B51D976A81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B81FA2EC-4B7B-616F-62A1-B43875327697}"/>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839F67D0-D411-744F-4687-0781EDD8503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46D46F09-F410-DEFA-CBCA-364BA59D12FE}"/>
              </a:ext>
            </a:extLst>
          </p:cNvPr>
          <p:cNvSpPr>
            <a:spLocks noGrp="1"/>
          </p:cNvSpPr>
          <p:nvPr>
            <p:ph type="dt" sz="half" idx="10"/>
          </p:nvPr>
        </p:nvSpPr>
        <p:spPr/>
        <p:txBody>
          <a:bodyPr/>
          <a:lstStyle/>
          <a:p>
            <a:fld id="{D001FB1A-E788-5948-A490-F8997DEF0245}" type="datetimeFigureOut">
              <a:rPr kumimoji="1" lang="zh-CN" altLang="en-US" smtClean="0"/>
              <a:t>2026/5/10</a:t>
            </a:fld>
            <a:endParaRPr kumimoji="1" lang="zh-CN" altLang="en-US"/>
          </a:p>
        </p:txBody>
      </p:sp>
      <p:sp>
        <p:nvSpPr>
          <p:cNvPr id="6" name="页脚占位符 5">
            <a:extLst>
              <a:ext uri="{FF2B5EF4-FFF2-40B4-BE49-F238E27FC236}">
                <a16:creationId xmlns:a16="http://schemas.microsoft.com/office/drawing/2014/main" id="{064DB027-579D-71BC-98BB-E0B7EC33B7A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58B5460-103D-5C17-602B-3F765D37F5CC}"/>
              </a:ext>
            </a:extLst>
          </p:cNvPr>
          <p:cNvSpPr>
            <a:spLocks noGrp="1"/>
          </p:cNvSpPr>
          <p:nvPr>
            <p:ph type="sldNum" sz="quarter" idx="12"/>
          </p:nvPr>
        </p:nvSpPr>
        <p:spPr/>
        <p:txBody>
          <a:bodyPr/>
          <a:lstStyle/>
          <a:p>
            <a:fld id="{80912922-230E-0C4C-B42D-EFDE6D3DD215}" type="slidenum">
              <a:rPr kumimoji="1" lang="zh-CN" altLang="en-US" smtClean="0"/>
              <a:t>‹#›</a:t>
            </a:fld>
            <a:endParaRPr kumimoji="1" lang="zh-CN" altLang="en-US"/>
          </a:p>
        </p:txBody>
      </p:sp>
    </p:spTree>
    <p:extLst>
      <p:ext uri="{BB962C8B-B14F-4D97-AF65-F5344CB8AC3E}">
        <p14:creationId xmlns:p14="http://schemas.microsoft.com/office/powerpoint/2010/main" val="3719911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5019F6-F8B2-58F7-B707-4FD1DC448ED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7F522243-918B-C104-8219-8606999B84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292F07B9-8F25-1908-8D2C-6F725BEFB561}"/>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EC68192F-0118-F2E9-EB65-BE2A116C7D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93E2030E-F4E1-C6E0-9655-40F0CDEFC47A}"/>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30B0B43-8B62-3741-3766-FBFB64C604A4}"/>
              </a:ext>
            </a:extLst>
          </p:cNvPr>
          <p:cNvSpPr>
            <a:spLocks noGrp="1"/>
          </p:cNvSpPr>
          <p:nvPr>
            <p:ph type="dt" sz="half" idx="10"/>
          </p:nvPr>
        </p:nvSpPr>
        <p:spPr/>
        <p:txBody>
          <a:bodyPr/>
          <a:lstStyle/>
          <a:p>
            <a:fld id="{D001FB1A-E788-5948-A490-F8997DEF0245}" type="datetimeFigureOut">
              <a:rPr kumimoji="1" lang="zh-CN" altLang="en-US" smtClean="0"/>
              <a:t>2026/5/10</a:t>
            </a:fld>
            <a:endParaRPr kumimoji="1" lang="zh-CN" altLang="en-US"/>
          </a:p>
        </p:txBody>
      </p:sp>
      <p:sp>
        <p:nvSpPr>
          <p:cNvPr id="8" name="页脚占位符 7">
            <a:extLst>
              <a:ext uri="{FF2B5EF4-FFF2-40B4-BE49-F238E27FC236}">
                <a16:creationId xmlns:a16="http://schemas.microsoft.com/office/drawing/2014/main" id="{BD3F1671-ABD0-A79C-C991-18BC555C6CD1}"/>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567ECD5A-BF2A-035A-3EA4-B8E88880A721}"/>
              </a:ext>
            </a:extLst>
          </p:cNvPr>
          <p:cNvSpPr>
            <a:spLocks noGrp="1"/>
          </p:cNvSpPr>
          <p:nvPr>
            <p:ph type="sldNum" sz="quarter" idx="12"/>
          </p:nvPr>
        </p:nvSpPr>
        <p:spPr/>
        <p:txBody>
          <a:bodyPr/>
          <a:lstStyle/>
          <a:p>
            <a:fld id="{80912922-230E-0C4C-B42D-EFDE6D3DD215}" type="slidenum">
              <a:rPr kumimoji="1" lang="zh-CN" altLang="en-US" smtClean="0"/>
              <a:t>‹#›</a:t>
            </a:fld>
            <a:endParaRPr kumimoji="1" lang="zh-CN" altLang="en-US"/>
          </a:p>
        </p:txBody>
      </p:sp>
    </p:spTree>
    <p:extLst>
      <p:ext uri="{BB962C8B-B14F-4D97-AF65-F5344CB8AC3E}">
        <p14:creationId xmlns:p14="http://schemas.microsoft.com/office/powerpoint/2010/main" val="789576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CC7EEC-B0C1-B138-1DF4-0FB921D25DB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47222C54-451F-7593-174D-FE9914DC7E30}"/>
              </a:ext>
            </a:extLst>
          </p:cNvPr>
          <p:cNvSpPr>
            <a:spLocks noGrp="1"/>
          </p:cNvSpPr>
          <p:nvPr>
            <p:ph type="dt" sz="half" idx="10"/>
          </p:nvPr>
        </p:nvSpPr>
        <p:spPr/>
        <p:txBody>
          <a:bodyPr/>
          <a:lstStyle/>
          <a:p>
            <a:fld id="{D001FB1A-E788-5948-A490-F8997DEF0245}" type="datetimeFigureOut">
              <a:rPr kumimoji="1" lang="zh-CN" altLang="en-US" smtClean="0"/>
              <a:t>2026/5/10</a:t>
            </a:fld>
            <a:endParaRPr kumimoji="1" lang="zh-CN" altLang="en-US"/>
          </a:p>
        </p:txBody>
      </p:sp>
      <p:sp>
        <p:nvSpPr>
          <p:cNvPr id="4" name="页脚占位符 3">
            <a:extLst>
              <a:ext uri="{FF2B5EF4-FFF2-40B4-BE49-F238E27FC236}">
                <a16:creationId xmlns:a16="http://schemas.microsoft.com/office/drawing/2014/main" id="{E88C2EF2-5B1F-E1C7-6CD3-E036D7988F22}"/>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7F9E5FC4-6D1A-4709-6C4C-B1A178D28510}"/>
              </a:ext>
            </a:extLst>
          </p:cNvPr>
          <p:cNvSpPr>
            <a:spLocks noGrp="1"/>
          </p:cNvSpPr>
          <p:nvPr>
            <p:ph type="sldNum" sz="quarter" idx="12"/>
          </p:nvPr>
        </p:nvSpPr>
        <p:spPr/>
        <p:txBody>
          <a:bodyPr/>
          <a:lstStyle/>
          <a:p>
            <a:fld id="{80912922-230E-0C4C-B42D-EFDE6D3DD215}" type="slidenum">
              <a:rPr kumimoji="1" lang="zh-CN" altLang="en-US" smtClean="0"/>
              <a:t>‹#›</a:t>
            </a:fld>
            <a:endParaRPr kumimoji="1" lang="zh-CN" altLang="en-US"/>
          </a:p>
        </p:txBody>
      </p:sp>
    </p:spTree>
    <p:extLst>
      <p:ext uri="{BB962C8B-B14F-4D97-AF65-F5344CB8AC3E}">
        <p14:creationId xmlns:p14="http://schemas.microsoft.com/office/powerpoint/2010/main" val="878337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A365543-010A-D32D-7B29-C3590002F56A}"/>
              </a:ext>
            </a:extLst>
          </p:cNvPr>
          <p:cNvSpPr>
            <a:spLocks noGrp="1"/>
          </p:cNvSpPr>
          <p:nvPr>
            <p:ph type="dt" sz="half" idx="10"/>
          </p:nvPr>
        </p:nvSpPr>
        <p:spPr/>
        <p:txBody>
          <a:bodyPr/>
          <a:lstStyle/>
          <a:p>
            <a:fld id="{D001FB1A-E788-5948-A490-F8997DEF0245}" type="datetimeFigureOut">
              <a:rPr kumimoji="1" lang="zh-CN" altLang="en-US" smtClean="0"/>
              <a:t>2026/5/10</a:t>
            </a:fld>
            <a:endParaRPr kumimoji="1" lang="zh-CN" altLang="en-US"/>
          </a:p>
        </p:txBody>
      </p:sp>
      <p:sp>
        <p:nvSpPr>
          <p:cNvPr id="3" name="页脚占位符 2">
            <a:extLst>
              <a:ext uri="{FF2B5EF4-FFF2-40B4-BE49-F238E27FC236}">
                <a16:creationId xmlns:a16="http://schemas.microsoft.com/office/drawing/2014/main" id="{624ED305-65E0-B7D4-2ACA-8A41BB31A19F}"/>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E255BE65-D8AD-1ED1-73BB-40403FD7E64D}"/>
              </a:ext>
            </a:extLst>
          </p:cNvPr>
          <p:cNvSpPr>
            <a:spLocks noGrp="1"/>
          </p:cNvSpPr>
          <p:nvPr>
            <p:ph type="sldNum" sz="quarter" idx="12"/>
          </p:nvPr>
        </p:nvSpPr>
        <p:spPr/>
        <p:txBody>
          <a:bodyPr/>
          <a:lstStyle/>
          <a:p>
            <a:fld id="{80912922-230E-0C4C-B42D-EFDE6D3DD215}" type="slidenum">
              <a:rPr kumimoji="1" lang="zh-CN" altLang="en-US" smtClean="0"/>
              <a:t>‹#›</a:t>
            </a:fld>
            <a:endParaRPr kumimoji="1" lang="zh-CN" altLang="en-US"/>
          </a:p>
        </p:txBody>
      </p:sp>
    </p:spTree>
    <p:extLst>
      <p:ext uri="{BB962C8B-B14F-4D97-AF65-F5344CB8AC3E}">
        <p14:creationId xmlns:p14="http://schemas.microsoft.com/office/powerpoint/2010/main" val="327804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BF2C1-ED45-85D6-D759-906BF7D87EE6}"/>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FB57F615-8D92-8630-330B-345FD227324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01BD2627-41B9-89A9-646F-E7A6FCC324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D59A9A2-C72C-5E12-AA3C-58E4883E98CE}"/>
              </a:ext>
            </a:extLst>
          </p:cNvPr>
          <p:cNvSpPr>
            <a:spLocks noGrp="1"/>
          </p:cNvSpPr>
          <p:nvPr>
            <p:ph type="dt" sz="half" idx="10"/>
          </p:nvPr>
        </p:nvSpPr>
        <p:spPr/>
        <p:txBody>
          <a:bodyPr/>
          <a:lstStyle/>
          <a:p>
            <a:fld id="{D001FB1A-E788-5948-A490-F8997DEF0245}" type="datetimeFigureOut">
              <a:rPr kumimoji="1" lang="zh-CN" altLang="en-US" smtClean="0"/>
              <a:t>2026/5/10</a:t>
            </a:fld>
            <a:endParaRPr kumimoji="1" lang="zh-CN" altLang="en-US"/>
          </a:p>
        </p:txBody>
      </p:sp>
      <p:sp>
        <p:nvSpPr>
          <p:cNvPr id="6" name="页脚占位符 5">
            <a:extLst>
              <a:ext uri="{FF2B5EF4-FFF2-40B4-BE49-F238E27FC236}">
                <a16:creationId xmlns:a16="http://schemas.microsoft.com/office/drawing/2014/main" id="{C93A57CB-305C-8F0A-2774-0D58DBA280A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D170D52-CCCE-BDCA-7902-2AC0433F8BFF}"/>
              </a:ext>
            </a:extLst>
          </p:cNvPr>
          <p:cNvSpPr>
            <a:spLocks noGrp="1"/>
          </p:cNvSpPr>
          <p:nvPr>
            <p:ph type="sldNum" sz="quarter" idx="12"/>
          </p:nvPr>
        </p:nvSpPr>
        <p:spPr/>
        <p:txBody>
          <a:bodyPr/>
          <a:lstStyle/>
          <a:p>
            <a:fld id="{80912922-230E-0C4C-B42D-EFDE6D3DD215}" type="slidenum">
              <a:rPr kumimoji="1" lang="zh-CN" altLang="en-US" smtClean="0"/>
              <a:t>‹#›</a:t>
            </a:fld>
            <a:endParaRPr kumimoji="1" lang="zh-CN" altLang="en-US"/>
          </a:p>
        </p:txBody>
      </p:sp>
    </p:spTree>
    <p:extLst>
      <p:ext uri="{BB962C8B-B14F-4D97-AF65-F5344CB8AC3E}">
        <p14:creationId xmlns:p14="http://schemas.microsoft.com/office/powerpoint/2010/main" val="3819363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EBDA00-DB6B-EFCF-BA0C-855832D51FE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B105BA36-0E02-DE19-4921-82C444FD18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1319AE03-FDAC-A595-9013-EB2ADC184E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AEF9261-CBD0-1BFC-F051-408200E20F62}"/>
              </a:ext>
            </a:extLst>
          </p:cNvPr>
          <p:cNvSpPr>
            <a:spLocks noGrp="1"/>
          </p:cNvSpPr>
          <p:nvPr>
            <p:ph type="dt" sz="half" idx="10"/>
          </p:nvPr>
        </p:nvSpPr>
        <p:spPr/>
        <p:txBody>
          <a:bodyPr/>
          <a:lstStyle/>
          <a:p>
            <a:fld id="{D001FB1A-E788-5948-A490-F8997DEF0245}" type="datetimeFigureOut">
              <a:rPr kumimoji="1" lang="zh-CN" altLang="en-US" smtClean="0"/>
              <a:t>2026/5/10</a:t>
            </a:fld>
            <a:endParaRPr kumimoji="1" lang="zh-CN" altLang="en-US"/>
          </a:p>
        </p:txBody>
      </p:sp>
      <p:sp>
        <p:nvSpPr>
          <p:cNvPr id="6" name="页脚占位符 5">
            <a:extLst>
              <a:ext uri="{FF2B5EF4-FFF2-40B4-BE49-F238E27FC236}">
                <a16:creationId xmlns:a16="http://schemas.microsoft.com/office/drawing/2014/main" id="{E6733952-C79A-CF21-C86E-B0A9454B087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25C9B75-6230-3FDD-4712-62B28FFD2F6C}"/>
              </a:ext>
            </a:extLst>
          </p:cNvPr>
          <p:cNvSpPr>
            <a:spLocks noGrp="1"/>
          </p:cNvSpPr>
          <p:nvPr>
            <p:ph type="sldNum" sz="quarter" idx="12"/>
          </p:nvPr>
        </p:nvSpPr>
        <p:spPr/>
        <p:txBody>
          <a:bodyPr/>
          <a:lstStyle/>
          <a:p>
            <a:fld id="{80912922-230E-0C4C-B42D-EFDE6D3DD215}" type="slidenum">
              <a:rPr kumimoji="1" lang="zh-CN" altLang="en-US" smtClean="0"/>
              <a:t>‹#›</a:t>
            </a:fld>
            <a:endParaRPr kumimoji="1" lang="zh-CN" altLang="en-US"/>
          </a:p>
        </p:txBody>
      </p:sp>
    </p:spTree>
    <p:extLst>
      <p:ext uri="{BB962C8B-B14F-4D97-AF65-F5344CB8AC3E}">
        <p14:creationId xmlns:p14="http://schemas.microsoft.com/office/powerpoint/2010/main" val="971735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B478A2-3BFA-DF01-EF61-A9B4F22F78FE}"/>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1D53202-5DA1-E1E0-F8F6-7FC4525C5E59}"/>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44C8959-F3EE-F570-701D-84FA5DA3EBD8}"/>
              </a:ext>
            </a:extLst>
          </p:cNvPr>
          <p:cNvSpPr>
            <a:spLocks noGrp="1"/>
          </p:cNvSpPr>
          <p:nvPr>
            <p:ph type="dt" sz="half" idx="10"/>
          </p:nvPr>
        </p:nvSpPr>
        <p:spPr/>
        <p:txBody>
          <a:bodyPr/>
          <a:lstStyle/>
          <a:p>
            <a:fld id="{D001FB1A-E788-5948-A490-F8997DEF0245}" type="datetimeFigureOut">
              <a:rPr kumimoji="1" lang="zh-CN" altLang="en-US" smtClean="0"/>
              <a:t>2026/5/10</a:t>
            </a:fld>
            <a:endParaRPr kumimoji="1" lang="zh-CN" altLang="en-US"/>
          </a:p>
        </p:txBody>
      </p:sp>
      <p:sp>
        <p:nvSpPr>
          <p:cNvPr id="5" name="页脚占位符 4">
            <a:extLst>
              <a:ext uri="{FF2B5EF4-FFF2-40B4-BE49-F238E27FC236}">
                <a16:creationId xmlns:a16="http://schemas.microsoft.com/office/drawing/2014/main" id="{476FC601-90DA-456D-D6DC-70DD0EDFE0B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B07A48D-AF98-96B7-9526-CB540D88348E}"/>
              </a:ext>
            </a:extLst>
          </p:cNvPr>
          <p:cNvSpPr>
            <a:spLocks noGrp="1"/>
          </p:cNvSpPr>
          <p:nvPr>
            <p:ph type="sldNum" sz="quarter" idx="12"/>
          </p:nvPr>
        </p:nvSpPr>
        <p:spPr/>
        <p:txBody>
          <a:bodyPr/>
          <a:lstStyle/>
          <a:p>
            <a:fld id="{80912922-230E-0C4C-B42D-EFDE6D3DD215}" type="slidenum">
              <a:rPr kumimoji="1" lang="zh-CN" altLang="en-US" smtClean="0"/>
              <a:t>‹#›</a:t>
            </a:fld>
            <a:endParaRPr kumimoji="1" lang="zh-CN" altLang="en-US"/>
          </a:p>
        </p:txBody>
      </p:sp>
    </p:spTree>
    <p:extLst>
      <p:ext uri="{BB962C8B-B14F-4D97-AF65-F5344CB8AC3E}">
        <p14:creationId xmlns:p14="http://schemas.microsoft.com/office/powerpoint/2010/main" val="12799151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C5900A1-E692-55FD-88EB-C4777F44447E}"/>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A1284704-E939-D681-721D-CB968ECC2DF7}"/>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A576385-51E2-D828-C199-07E7BA6A4C47}"/>
              </a:ext>
            </a:extLst>
          </p:cNvPr>
          <p:cNvSpPr>
            <a:spLocks noGrp="1"/>
          </p:cNvSpPr>
          <p:nvPr>
            <p:ph type="dt" sz="half" idx="10"/>
          </p:nvPr>
        </p:nvSpPr>
        <p:spPr/>
        <p:txBody>
          <a:bodyPr/>
          <a:lstStyle/>
          <a:p>
            <a:fld id="{D001FB1A-E788-5948-A490-F8997DEF0245}" type="datetimeFigureOut">
              <a:rPr kumimoji="1" lang="zh-CN" altLang="en-US" smtClean="0"/>
              <a:t>2026/5/10</a:t>
            </a:fld>
            <a:endParaRPr kumimoji="1" lang="zh-CN" altLang="en-US"/>
          </a:p>
        </p:txBody>
      </p:sp>
      <p:sp>
        <p:nvSpPr>
          <p:cNvPr id="5" name="页脚占位符 4">
            <a:extLst>
              <a:ext uri="{FF2B5EF4-FFF2-40B4-BE49-F238E27FC236}">
                <a16:creationId xmlns:a16="http://schemas.microsoft.com/office/drawing/2014/main" id="{06442F53-16DA-8C9E-FD52-F5A0ABAF7F7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C9B7AE17-1E97-20EE-2A6D-75FBA7C5437D}"/>
              </a:ext>
            </a:extLst>
          </p:cNvPr>
          <p:cNvSpPr>
            <a:spLocks noGrp="1"/>
          </p:cNvSpPr>
          <p:nvPr>
            <p:ph type="sldNum" sz="quarter" idx="12"/>
          </p:nvPr>
        </p:nvSpPr>
        <p:spPr/>
        <p:txBody>
          <a:bodyPr/>
          <a:lstStyle/>
          <a:p>
            <a:fld id="{80912922-230E-0C4C-B42D-EFDE6D3DD215}" type="slidenum">
              <a:rPr kumimoji="1" lang="zh-CN" altLang="en-US" smtClean="0"/>
              <a:t>‹#›</a:t>
            </a:fld>
            <a:endParaRPr kumimoji="1" lang="zh-CN" altLang="en-US"/>
          </a:p>
        </p:txBody>
      </p:sp>
    </p:spTree>
    <p:extLst>
      <p:ext uri="{BB962C8B-B14F-4D97-AF65-F5344CB8AC3E}">
        <p14:creationId xmlns:p14="http://schemas.microsoft.com/office/powerpoint/2010/main" val="3956048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0116DDC5-9DAE-F6A6-98D8-BF16E1033A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26C82464-E0F9-65F1-52D7-B9D473E417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D78E37B-4855-044A-3220-66293DE85A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001FB1A-E788-5948-A490-F8997DEF0245}" type="datetimeFigureOut">
              <a:rPr kumimoji="1" lang="zh-CN" altLang="en-US" smtClean="0"/>
              <a:t>2026/5/10</a:t>
            </a:fld>
            <a:endParaRPr kumimoji="1" lang="zh-CN" altLang="en-US"/>
          </a:p>
        </p:txBody>
      </p:sp>
      <p:sp>
        <p:nvSpPr>
          <p:cNvPr id="5" name="页脚占位符 4">
            <a:extLst>
              <a:ext uri="{FF2B5EF4-FFF2-40B4-BE49-F238E27FC236}">
                <a16:creationId xmlns:a16="http://schemas.microsoft.com/office/drawing/2014/main" id="{051C5B32-EA65-8E36-3818-C5BD0AF67E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8F7B77E1-CD87-7575-AB47-07A2F14914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912922-230E-0C4C-B42D-EFDE6D3DD215}" type="slidenum">
              <a:rPr kumimoji="1" lang="zh-CN" altLang="en-US" smtClean="0"/>
              <a:t>‹#›</a:t>
            </a:fld>
            <a:endParaRPr kumimoji="1" lang="zh-CN" altLang="en-US"/>
          </a:p>
        </p:txBody>
      </p:sp>
    </p:spTree>
    <p:extLst>
      <p:ext uri="{BB962C8B-B14F-4D97-AF65-F5344CB8AC3E}">
        <p14:creationId xmlns:p14="http://schemas.microsoft.com/office/powerpoint/2010/main" val="2883367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10" Type="http://schemas.openxmlformats.org/officeDocument/2006/relationships/image" Target="../media/image4.svg"/><Relationship Id="rId4" Type="http://schemas.openxmlformats.org/officeDocument/2006/relationships/image" Target="../media/image6.sv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1.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1.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1.png"/><Relationship Id="rId7"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12.sv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5">
            <a:extLst>
              <a:ext uri="{FF2B5EF4-FFF2-40B4-BE49-F238E27FC236}">
                <a16:creationId xmlns:a16="http://schemas.microsoft.com/office/drawing/2014/main" id="{2B517373-DAEF-9714-108D-3589CC9EF473}"/>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5" name="TextBox 6">
            <a:extLst>
              <a:ext uri="{FF2B5EF4-FFF2-40B4-BE49-F238E27FC236}">
                <a16:creationId xmlns:a16="http://schemas.microsoft.com/office/drawing/2014/main" id="{37EF0535-970E-DF37-2FE8-3473B3B5DD26}"/>
              </a:ext>
            </a:extLst>
          </p:cNvPr>
          <p:cNvSpPr txBox="1"/>
          <p:nvPr/>
        </p:nvSpPr>
        <p:spPr>
          <a:xfrm>
            <a:off x="8911455" y="309900"/>
            <a:ext cx="2719987" cy="192360"/>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
        <p:nvSpPr>
          <p:cNvPr id="7" name="Freeform 8">
            <a:extLst>
              <a:ext uri="{FF2B5EF4-FFF2-40B4-BE49-F238E27FC236}">
                <a16:creationId xmlns:a16="http://schemas.microsoft.com/office/drawing/2014/main" id="{D1BFDFDB-C918-3298-AE5D-E8A18C96930E}"/>
              </a:ext>
            </a:extLst>
          </p:cNvPr>
          <p:cNvSpPr/>
          <p:nvPr/>
        </p:nvSpPr>
        <p:spPr>
          <a:xfrm rot="19003500">
            <a:off x="9274546" y="4354831"/>
            <a:ext cx="1993805" cy="2197580"/>
          </a:xfrm>
          <a:custGeom>
            <a:avLst/>
            <a:gdLst/>
            <a:ahLst/>
            <a:cxnLst/>
            <a:rect l="l" t="t" r="r" b="b"/>
            <a:pathLst>
              <a:path w="2990707" h="3296370">
                <a:moveTo>
                  <a:pt x="0" y="0"/>
                </a:moveTo>
                <a:lnTo>
                  <a:pt x="2990707" y="0"/>
                </a:lnTo>
                <a:lnTo>
                  <a:pt x="2990707" y="3296370"/>
                </a:lnTo>
                <a:lnTo>
                  <a:pt x="0" y="32963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sz="1200"/>
          </a:p>
        </p:txBody>
      </p:sp>
      <p:sp>
        <p:nvSpPr>
          <p:cNvPr id="12" name="Freeform 14">
            <a:extLst>
              <a:ext uri="{FF2B5EF4-FFF2-40B4-BE49-F238E27FC236}">
                <a16:creationId xmlns:a16="http://schemas.microsoft.com/office/drawing/2014/main" id="{6092AC82-464F-210A-1783-244529B0880A}"/>
              </a:ext>
            </a:extLst>
          </p:cNvPr>
          <p:cNvSpPr/>
          <p:nvPr/>
        </p:nvSpPr>
        <p:spPr>
          <a:xfrm>
            <a:off x="685801" y="4274414"/>
            <a:ext cx="2365351" cy="2060006"/>
          </a:xfrm>
          <a:custGeom>
            <a:avLst/>
            <a:gdLst/>
            <a:ahLst/>
            <a:cxnLst/>
            <a:rect l="l" t="t" r="r" b="b"/>
            <a:pathLst>
              <a:path w="3548027" h="3090009">
                <a:moveTo>
                  <a:pt x="0" y="0"/>
                </a:moveTo>
                <a:lnTo>
                  <a:pt x="3548027" y="0"/>
                </a:lnTo>
                <a:lnTo>
                  <a:pt x="3548027" y="3090009"/>
                </a:lnTo>
                <a:lnTo>
                  <a:pt x="0" y="309000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CN" altLang="en-US" sz="1200"/>
          </a:p>
        </p:txBody>
      </p:sp>
      <p:sp>
        <p:nvSpPr>
          <p:cNvPr id="13" name="TextBox 16">
            <a:extLst>
              <a:ext uri="{FF2B5EF4-FFF2-40B4-BE49-F238E27FC236}">
                <a16:creationId xmlns:a16="http://schemas.microsoft.com/office/drawing/2014/main" id="{4DFC06FB-018B-AFB6-F3AB-3635DE224684}"/>
              </a:ext>
            </a:extLst>
          </p:cNvPr>
          <p:cNvSpPr txBox="1"/>
          <p:nvPr/>
        </p:nvSpPr>
        <p:spPr>
          <a:xfrm>
            <a:off x="5617781" y="1334959"/>
            <a:ext cx="956439" cy="859210"/>
          </a:xfrm>
          <a:prstGeom prst="rect">
            <a:avLst/>
          </a:prstGeom>
        </p:spPr>
        <p:txBody>
          <a:bodyPr lIns="0" tIns="0" rIns="0" bIns="0" rtlCol="0" anchor="t">
            <a:spAutoFit/>
          </a:bodyPr>
          <a:lstStyle/>
          <a:p>
            <a:pPr algn="ctr">
              <a:lnSpc>
                <a:spcPts val="6729"/>
              </a:lnSpc>
            </a:pPr>
            <a:r>
              <a:rPr lang="en-US" sz="5608" b="1" dirty="0">
                <a:solidFill>
                  <a:srgbClr val="FFFFFF"/>
                </a:solidFill>
                <a:latin typeface="Akzidenz-Grotesk Bold"/>
                <a:ea typeface="Akzidenz-Grotesk Bold"/>
                <a:cs typeface="Akzidenz-Grotesk Bold"/>
                <a:sym typeface="Akzidenz-Grotesk Bold"/>
              </a:rPr>
              <a:t>0</a:t>
            </a:r>
          </a:p>
        </p:txBody>
      </p:sp>
      <p:sp>
        <p:nvSpPr>
          <p:cNvPr id="14" name="AutoShape 18">
            <a:extLst>
              <a:ext uri="{FF2B5EF4-FFF2-40B4-BE49-F238E27FC236}">
                <a16:creationId xmlns:a16="http://schemas.microsoft.com/office/drawing/2014/main" id="{D57748A7-4CB4-BEDD-B36B-57FD636ADA85}"/>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sp>
        <p:nvSpPr>
          <p:cNvPr id="17" name="TextBox 16">
            <a:extLst>
              <a:ext uri="{FF2B5EF4-FFF2-40B4-BE49-F238E27FC236}">
                <a16:creationId xmlns:a16="http://schemas.microsoft.com/office/drawing/2014/main" id="{C02F3998-0BC9-FBB5-E2DF-C9BBB06CF2A5}"/>
              </a:ext>
            </a:extLst>
          </p:cNvPr>
          <p:cNvSpPr txBox="1"/>
          <p:nvPr/>
        </p:nvSpPr>
        <p:spPr>
          <a:xfrm>
            <a:off x="1857260" y="2054811"/>
            <a:ext cx="8477479" cy="1056123"/>
          </a:xfrm>
          <a:prstGeom prst="rect">
            <a:avLst/>
          </a:prstGeom>
        </p:spPr>
        <p:txBody>
          <a:bodyPr lIns="0" tIns="0" rIns="0" bIns="0" rtlCol="0" anchor="t">
            <a:spAutoFit/>
          </a:bodyPr>
          <a:lstStyle/>
          <a:p>
            <a:pPr algn="ctr">
              <a:lnSpc>
                <a:spcPts val="4226"/>
              </a:lnSpc>
            </a:pPr>
            <a:r>
              <a:rPr lang="en-US" sz="3000" b="1" spc="-141" dirty="0">
                <a:solidFill>
                  <a:srgbClr val="1E1E1E"/>
                </a:solidFill>
                <a:latin typeface="思源黑体 2 Bold"/>
                <a:ea typeface="思源黑体 2 Bold"/>
                <a:cs typeface="思源黑体 2 Bold"/>
                <a:sym typeface="思源黑体 2 Bold"/>
              </a:rPr>
              <a:t>Designing an Academic and Career Development Website for Computer Science Students </a:t>
            </a:r>
          </a:p>
        </p:txBody>
      </p:sp>
      <p:sp>
        <p:nvSpPr>
          <p:cNvPr id="18" name="文本框 17">
            <a:extLst>
              <a:ext uri="{FF2B5EF4-FFF2-40B4-BE49-F238E27FC236}">
                <a16:creationId xmlns:a16="http://schemas.microsoft.com/office/drawing/2014/main" id="{C81B41F6-0448-6D14-9DF2-BFCFB543C170}"/>
              </a:ext>
            </a:extLst>
          </p:cNvPr>
          <p:cNvSpPr txBox="1"/>
          <p:nvPr/>
        </p:nvSpPr>
        <p:spPr>
          <a:xfrm>
            <a:off x="4932932" y="3441229"/>
            <a:ext cx="2443298" cy="369332"/>
          </a:xfrm>
          <a:prstGeom prst="rect">
            <a:avLst/>
          </a:prstGeom>
          <a:noFill/>
        </p:spPr>
        <p:txBody>
          <a:bodyPr wrap="none" rtlCol="0">
            <a:spAutoFit/>
          </a:bodyPr>
          <a:lstStyle/>
          <a:p>
            <a:r>
              <a:rPr kumimoji="1" lang="en-US" altLang="zh-CN" dirty="0">
                <a:latin typeface="Times New Roman" panose="02020603050405020304" pitchFamily="18" charset="0"/>
                <a:cs typeface="Times New Roman" panose="02020603050405020304" pitchFamily="18" charset="0"/>
              </a:rPr>
              <a:t>Yiming Luo, DC229226</a:t>
            </a:r>
            <a:endParaRPr kumimoji="1" lang="zh-CN" altLang="en-US" dirty="0">
              <a:latin typeface="Times New Roman" panose="02020603050405020304" pitchFamily="18" charset="0"/>
              <a:cs typeface="Times New Roman" panose="02020603050405020304" pitchFamily="18" charset="0"/>
            </a:endParaRPr>
          </a:p>
        </p:txBody>
      </p:sp>
      <p:sp>
        <p:nvSpPr>
          <p:cNvPr id="20" name="TextBox 18">
            <a:extLst>
              <a:ext uri="{FF2B5EF4-FFF2-40B4-BE49-F238E27FC236}">
                <a16:creationId xmlns:a16="http://schemas.microsoft.com/office/drawing/2014/main" id="{C27D059B-D457-FD73-55E1-865831DFD31F}"/>
              </a:ext>
            </a:extLst>
          </p:cNvPr>
          <p:cNvSpPr txBox="1"/>
          <p:nvPr/>
        </p:nvSpPr>
        <p:spPr>
          <a:xfrm>
            <a:off x="7026532" y="3928743"/>
            <a:ext cx="1996596" cy="271100"/>
          </a:xfrm>
          <a:prstGeom prst="rect">
            <a:avLst/>
          </a:prstGeom>
        </p:spPr>
        <p:txBody>
          <a:bodyPr lIns="0" tIns="0" rIns="0" bIns="0" rtlCol="0" anchor="t">
            <a:spAutoFit/>
          </a:bodyPr>
          <a:lstStyle/>
          <a:p>
            <a:pPr>
              <a:lnSpc>
                <a:spcPts val="2153"/>
              </a:lnSpc>
            </a:pPr>
            <a:r>
              <a:rPr lang="en-US" sz="1795" dirty="0">
                <a:solidFill>
                  <a:srgbClr val="1E1E1E"/>
                </a:solidFill>
                <a:latin typeface="Times New Roman" panose="02020603050405020304" pitchFamily="18" charset="0"/>
                <a:ea typeface="思源黑体 2"/>
                <a:cs typeface="Times New Roman" panose="02020603050405020304" pitchFamily="18" charset="0"/>
                <a:sym typeface="思源黑体 2"/>
              </a:rPr>
              <a:t>Team</a:t>
            </a:r>
            <a:r>
              <a:rPr lang="zh-CN" altLang="en-US" sz="1795" dirty="0">
                <a:solidFill>
                  <a:srgbClr val="1E1E1E"/>
                </a:solidFill>
                <a:latin typeface="Times New Roman" panose="02020603050405020304" pitchFamily="18" charset="0"/>
                <a:ea typeface="思源黑体 2"/>
                <a:cs typeface="Times New Roman" panose="02020603050405020304" pitchFamily="18" charset="0"/>
                <a:sym typeface="思源黑体 2"/>
              </a:rPr>
              <a:t> </a:t>
            </a:r>
            <a:r>
              <a:rPr lang="en-US" sz="1795" dirty="0">
                <a:solidFill>
                  <a:srgbClr val="1E1E1E"/>
                </a:solidFill>
                <a:latin typeface="Times New Roman" panose="02020603050405020304" pitchFamily="18" charset="0"/>
                <a:ea typeface="思源黑体 2"/>
                <a:cs typeface="Times New Roman" panose="02020603050405020304" pitchFamily="18" charset="0"/>
                <a:sym typeface="思源黑体 2"/>
              </a:rPr>
              <a:t>02</a:t>
            </a:r>
          </a:p>
        </p:txBody>
      </p:sp>
    </p:spTree>
    <p:extLst>
      <p:ext uri="{BB962C8B-B14F-4D97-AF65-F5344CB8AC3E}">
        <p14:creationId xmlns:p14="http://schemas.microsoft.com/office/powerpoint/2010/main" val="708599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7" name="Freeform 7"/>
          <p:cNvSpPr/>
          <p:nvPr/>
        </p:nvSpPr>
        <p:spPr>
          <a:xfrm rot="2034321">
            <a:off x="575753" y="1120182"/>
            <a:ext cx="1795627" cy="1776039"/>
          </a:xfrm>
          <a:custGeom>
            <a:avLst/>
            <a:gdLst/>
            <a:ahLst/>
            <a:cxnLst/>
            <a:rect l="l" t="t" r="r" b="b"/>
            <a:pathLst>
              <a:path w="2693441" h="2664058">
                <a:moveTo>
                  <a:pt x="0" y="0"/>
                </a:moveTo>
                <a:lnTo>
                  <a:pt x="2693440" y="0"/>
                </a:lnTo>
                <a:lnTo>
                  <a:pt x="2693440" y="2664058"/>
                </a:lnTo>
                <a:lnTo>
                  <a:pt x="0" y="266405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8" name="Freeform 8"/>
          <p:cNvSpPr/>
          <p:nvPr/>
        </p:nvSpPr>
        <p:spPr>
          <a:xfrm rot="-2596500">
            <a:off x="9274546" y="4354831"/>
            <a:ext cx="1993805" cy="2197580"/>
          </a:xfrm>
          <a:custGeom>
            <a:avLst/>
            <a:gdLst/>
            <a:ahLst/>
            <a:cxnLst/>
            <a:rect l="l" t="t" r="r" b="b"/>
            <a:pathLst>
              <a:path w="2990707" h="3296370">
                <a:moveTo>
                  <a:pt x="0" y="0"/>
                </a:moveTo>
                <a:lnTo>
                  <a:pt x="2990707" y="0"/>
                </a:lnTo>
                <a:lnTo>
                  <a:pt x="2990707" y="3296370"/>
                </a:lnTo>
                <a:lnTo>
                  <a:pt x="0" y="329637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0" name="Freeform 10"/>
          <p:cNvSpPr/>
          <p:nvPr/>
        </p:nvSpPr>
        <p:spPr>
          <a:xfrm>
            <a:off x="9219232" y="1306715"/>
            <a:ext cx="2104433" cy="2104433"/>
          </a:xfrm>
          <a:custGeom>
            <a:avLst/>
            <a:gdLst/>
            <a:ahLst/>
            <a:cxnLst/>
            <a:rect l="l" t="t" r="r" b="b"/>
            <a:pathLst>
              <a:path w="3156649" h="3156649">
                <a:moveTo>
                  <a:pt x="0" y="0"/>
                </a:moveTo>
                <a:lnTo>
                  <a:pt x="3156649" y="0"/>
                </a:lnTo>
                <a:lnTo>
                  <a:pt x="3156649" y="3156649"/>
                </a:lnTo>
                <a:lnTo>
                  <a:pt x="0" y="315664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zh-CN" altLang="en-US" sz="1200"/>
          </a:p>
        </p:txBody>
      </p:sp>
      <p:grpSp>
        <p:nvGrpSpPr>
          <p:cNvPr id="11" name="Group 11"/>
          <p:cNvGrpSpPr/>
          <p:nvPr/>
        </p:nvGrpSpPr>
        <p:grpSpPr>
          <a:xfrm>
            <a:off x="5555685" y="1278300"/>
            <a:ext cx="1080631" cy="1080631"/>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8C8D8"/>
            </a:solidFill>
          </p:spPr>
          <p:txBody>
            <a:bodyPr/>
            <a:lstStyle/>
            <a:p>
              <a:endParaRPr lang="zh-CN" altLang="en-US" sz="1200"/>
            </a:p>
          </p:txBody>
        </p:sp>
        <p:sp>
          <p:nvSpPr>
            <p:cNvPr id="13" name="TextBox 13"/>
            <p:cNvSpPr txBox="1"/>
            <p:nvPr/>
          </p:nvSpPr>
          <p:spPr>
            <a:xfrm>
              <a:off x="76200" y="76200"/>
              <a:ext cx="660400" cy="660400"/>
            </a:xfrm>
            <a:prstGeom prst="rect">
              <a:avLst/>
            </a:prstGeom>
          </p:spPr>
          <p:txBody>
            <a:bodyPr lIns="33867" tIns="33867" rIns="33867" bIns="33867" rtlCol="0" anchor="ctr"/>
            <a:lstStyle/>
            <a:p>
              <a:pPr algn="ctr">
                <a:lnSpc>
                  <a:spcPts val="1991"/>
                </a:lnSpc>
              </a:pPr>
              <a:endParaRPr sz="1200"/>
            </a:p>
          </p:txBody>
        </p:sp>
      </p:grpSp>
      <p:sp>
        <p:nvSpPr>
          <p:cNvPr id="14" name="Freeform 14"/>
          <p:cNvSpPr/>
          <p:nvPr/>
        </p:nvSpPr>
        <p:spPr>
          <a:xfrm>
            <a:off x="685801" y="4274414"/>
            <a:ext cx="2365351" cy="2060006"/>
          </a:xfrm>
          <a:custGeom>
            <a:avLst/>
            <a:gdLst/>
            <a:ahLst/>
            <a:cxnLst/>
            <a:rect l="l" t="t" r="r" b="b"/>
            <a:pathLst>
              <a:path w="3548027" h="3090009">
                <a:moveTo>
                  <a:pt x="0" y="0"/>
                </a:moveTo>
                <a:lnTo>
                  <a:pt x="3548027" y="0"/>
                </a:lnTo>
                <a:lnTo>
                  <a:pt x="3548027" y="3090009"/>
                </a:lnTo>
                <a:lnTo>
                  <a:pt x="0" y="309000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zh-CN" altLang="en-US" sz="1200"/>
          </a:p>
        </p:txBody>
      </p:sp>
      <p:sp>
        <p:nvSpPr>
          <p:cNvPr id="16" name="TextBox 16"/>
          <p:cNvSpPr txBox="1"/>
          <p:nvPr/>
        </p:nvSpPr>
        <p:spPr>
          <a:xfrm>
            <a:off x="5617781" y="1334959"/>
            <a:ext cx="956439" cy="859210"/>
          </a:xfrm>
          <a:prstGeom prst="rect">
            <a:avLst/>
          </a:prstGeom>
        </p:spPr>
        <p:txBody>
          <a:bodyPr lIns="0" tIns="0" rIns="0" bIns="0" rtlCol="0" anchor="t">
            <a:spAutoFit/>
          </a:bodyPr>
          <a:lstStyle/>
          <a:p>
            <a:pPr algn="ctr">
              <a:lnSpc>
                <a:spcPts val="6729"/>
              </a:lnSpc>
            </a:pPr>
            <a:r>
              <a:rPr lang="en-US" sz="5608" b="1" dirty="0">
                <a:solidFill>
                  <a:srgbClr val="FFFFFF"/>
                </a:solidFill>
                <a:latin typeface="Akzidenz-Grotesk Bold"/>
                <a:ea typeface="Akzidenz-Grotesk Bold"/>
                <a:cs typeface="Akzidenz-Grotesk Bold"/>
                <a:sym typeface="Akzidenz-Grotesk Bold"/>
              </a:rPr>
              <a:t>0</a:t>
            </a:r>
            <a:r>
              <a:rPr lang="en-US" altLang="zh-CN" sz="5608" b="1" dirty="0">
                <a:solidFill>
                  <a:srgbClr val="FFFFFF"/>
                </a:solidFill>
                <a:latin typeface="Akzidenz-Grotesk Bold"/>
                <a:ea typeface="Akzidenz-Grotesk Bold"/>
                <a:cs typeface="Akzidenz-Grotesk Bold"/>
                <a:sym typeface="Akzidenz-Grotesk Bold"/>
              </a:rPr>
              <a:t>1</a:t>
            </a:r>
            <a:endParaRPr lang="en-US" sz="5608" b="1" dirty="0">
              <a:solidFill>
                <a:srgbClr val="FFFFFF"/>
              </a:solidFill>
              <a:latin typeface="Akzidenz-Grotesk Bold"/>
              <a:ea typeface="Akzidenz-Grotesk Bold"/>
              <a:cs typeface="Akzidenz-Grotesk Bold"/>
              <a:sym typeface="Akzidenz-Grotesk Bold"/>
            </a:endParaRPr>
          </a:p>
        </p:txBody>
      </p:sp>
      <p:sp>
        <p:nvSpPr>
          <p:cNvPr id="18" name="AutoShape 18"/>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sp>
        <p:nvSpPr>
          <p:cNvPr id="19" name="文本框 18">
            <a:extLst>
              <a:ext uri="{FF2B5EF4-FFF2-40B4-BE49-F238E27FC236}">
                <a16:creationId xmlns:a16="http://schemas.microsoft.com/office/drawing/2014/main" id="{7904CBD8-A397-845A-8D40-56963F1820B0}"/>
              </a:ext>
            </a:extLst>
          </p:cNvPr>
          <p:cNvSpPr txBox="1"/>
          <p:nvPr/>
        </p:nvSpPr>
        <p:spPr>
          <a:xfrm>
            <a:off x="3481886" y="2815016"/>
            <a:ext cx="4840492" cy="861774"/>
          </a:xfrm>
          <a:prstGeom prst="rect">
            <a:avLst/>
          </a:prstGeom>
          <a:noFill/>
        </p:spPr>
        <p:txBody>
          <a:bodyPr wrap="none" rtlCol="0">
            <a:spAutoFit/>
          </a:bodyPr>
          <a:lstStyle/>
          <a:p>
            <a:r>
              <a:rPr kumimoji="1" lang="en-US" altLang="zh-CN" sz="2500" dirty="0">
                <a:latin typeface="Times New Roman" panose="02020603050405020304" pitchFamily="18" charset="0"/>
                <a:cs typeface="Times New Roman" panose="02020603050405020304" pitchFamily="18" charset="0"/>
              </a:rPr>
              <a:t>My contribution in the Team project</a:t>
            </a:r>
          </a:p>
          <a:p>
            <a:endParaRPr kumimoji="1" lang="zh-CN" altLang="en-US" sz="2500" dirty="0">
              <a:latin typeface="Times New Roman" panose="02020603050405020304" pitchFamily="18" charset="0"/>
              <a:cs typeface="Times New Roman" panose="02020603050405020304" pitchFamily="18" charset="0"/>
            </a:endParaRPr>
          </a:p>
        </p:txBody>
      </p:sp>
      <p:sp>
        <p:nvSpPr>
          <p:cNvPr id="20" name="文本框 19">
            <a:extLst>
              <a:ext uri="{FF2B5EF4-FFF2-40B4-BE49-F238E27FC236}">
                <a16:creationId xmlns:a16="http://schemas.microsoft.com/office/drawing/2014/main" id="{BD2B1944-3B27-50D0-7A73-8B726FA7B01B}"/>
              </a:ext>
            </a:extLst>
          </p:cNvPr>
          <p:cNvSpPr txBox="1"/>
          <p:nvPr/>
        </p:nvSpPr>
        <p:spPr>
          <a:xfrm>
            <a:off x="4267200" y="3853543"/>
            <a:ext cx="3732753" cy="1477328"/>
          </a:xfrm>
          <a:prstGeom prst="rect">
            <a:avLst/>
          </a:prstGeom>
          <a:noFill/>
        </p:spPr>
        <p:txBody>
          <a:bodyPr wrap="none" rtlCol="0">
            <a:spAutoFit/>
          </a:bodyPr>
          <a:lstStyle/>
          <a:p>
            <a:pPr marL="342900" indent="-342900">
              <a:buAutoNum type="arabicPeriod"/>
            </a:pPr>
            <a:r>
              <a:rPr kumimoji="1" lang="en-US" altLang="zh-CN" dirty="0">
                <a:latin typeface="Times New Roman" panose="02020603050405020304" pitchFamily="18" charset="0"/>
                <a:cs typeface="Times New Roman" panose="02020603050405020304" pitchFamily="18" charset="0"/>
              </a:rPr>
              <a:t>Overall Page design</a:t>
            </a:r>
          </a:p>
          <a:p>
            <a:pPr marL="342900" indent="-342900">
              <a:buAutoNum type="arabicPeriod"/>
            </a:pPr>
            <a:r>
              <a:rPr kumimoji="1" lang="en-US" altLang="zh-CN" dirty="0">
                <a:latin typeface="Times New Roman" panose="02020603050405020304" pitchFamily="18" charset="0"/>
                <a:cs typeface="Times New Roman" panose="02020603050405020304" pitchFamily="18" charset="0"/>
              </a:rPr>
              <a:t>Design</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and develop Master’s Page</a:t>
            </a:r>
          </a:p>
          <a:p>
            <a:pPr marL="342900" indent="-342900">
              <a:buAutoNum type="arabicPeriod"/>
            </a:pPr>
            <a:r>
              <a:rPr kumimoji="1" lang="en-US" altLang="zh-CN" dirty="0">
                <a:latin typeface="Times New Roman" panose="02020603050405020304" pitchFamily="18" charset="0"/>
                <a:cs typeface="Times New Roman" panose="02020603050405020304" pitchFamily="18" charset="0"/>
              </a:rPr>
              <a:t>Design and develop Career’s Page</a:t>
            </a:r>
          </a:p>
          <a:p>
            <a:pPr marL="342900" indent="-342900">
              <a:buAutoNum type="arabicPeriod"/>
            </a:pPr>
            <a:r>
              <a:rPr kumimoji="1" lang="en-US" altLang="zh-CN" dirty="0">
                <a:latin typeface="Times New Roman" panose="02020603050405020304" pitchFamily="18" charset="0"/>
                <a:cs typeface="Times New Roman" panose="02020603050405020304" pitchFamily="18" charset="0"/>
              </a:rPr>
              <a:t>Design and develop Job’s page</a:t>
            </a:r>
          </a:p>
          <a:p>
            <a:pPr marL="342900" indent="-342900">
              <a:buAutoNum type="arabicPeriod"/>
            </a:pPr>
            <a:r>
              <a:rPr kumimoji="1" lang="en-US" altLang="zh-CN" dirty="0">
                <a:latin typeface="Times New Roman" panose="02020603050405020304" pitchFamily="18" charset="0"/>
                <a:cs typeface="Times New Roman" panose="02020603050405020304" pitchFamily="18" charset="0"/>
              </a:rPr>
              <a:t>Design and develop AI</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Chat</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page</a:t>
            </a:r>
            <a:endParaRPr kumimoji="1" lang="zh-CN" altLang="en-US" dirty="0">
              <a:latin typeface="Times New Roman" panose="02020603050405020304" pitchFamily="18" charset="0"/>
              <a:cs typeface="Times New Roman" panose="02020603050405020304" pitchFamily="18" charset="0"/>
            </a:endParaRPr>
          </a:p>
        </p:txBody>
      </p:sp>
      <p:sp>
        <p:nvSpPr>
          <p:cNvPr id="21" name="TextBox 6">
            <a:extLst>
              <a:ext uri="{FF2B5EF4-FFF2-40B4-BE49-F238E27FC236}">
                <a16:creationId xmlns:a16="http://schemas.microsoft.com/office/drawing/2014/main" id="{9B26BA22-4059-5067-A637-D5F62A935AD2}"/>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9A881B7-0CF6-4223-F168-5D6B6BEDDE96}"/>
              </a:ext>
            </a:extLst>
          </p:cNvPr>
          <p:cNvPicPr>
            <a:picLocks noChangeAspect="1"/>
          </p:cNvPicPr>
          <p:nvPr/>
        </p:nvPicPr>
        <p:blipFill>
          <a:blip r:embed="rId2"/>
          <a:stretch>
            <a:fillRect/>
          </a:stretch>
        </p:blipFill>
        <p:spPr>
          <a:xfrm>
            <a:off x="400340" y="1313041"/>
            <a:ext cx="4761819" cy="2948396"/>
          </a:xfrm>
          <a:prstGeom prst="rect">
            <a:avLst/>
          </a:prstGeom>
        </p:spPr>
      </p:pic>
      <p:pic>
        <p:nvPicPr>
          <p:cNvPr id="3" name="图片 2">
            <a:extLst>
              <a:ext uri="{FF2B5EF4-FFF2-40B4-BE49-F238E27FC236}">
                <a16:creationId xmlns:a16="http://schemas.microsoft.com/office/drawing/2014/main" id="{37C49A5D-5DE8-0F6F-4001-DFC916001676}"/>
              </a:ext>
            </a:extLst>
          </p:cNvPr>
          <p:cNvPicPr>
            <a:picLocks noChangeAspect="1"/>
          </p:cNvPicPr>
          <p:nvPr/>
        </p:nvPicPr>
        <p:blipFill>
          <a:blip r:embed="rId3"/>
          <a:stretch>
            <a:fillRect/>
          </a:stretch>
        </p:blipFill>
        <p:spPr>
          <a:xfrm>
            <a:off x="6727372" y="1313040"/>
            <a:ext cx="4945159" cy="2948396"/>
          </a:xfrm>
          <a:prstGeom prst="rect">
            <a:avLst/>
          </a:prstGeom>
        </p:spPr>
      </p:pic>
      <p:sp>
        <p:nvSpPr>
          <p:cNvPr id="4" name="文本框 3">
            <a:extLst>
              <a:ext uri="{FF2B5EF4-FFF2-40B4-BE49-F238E27FC236}">
                <a16:creationId xmlns:a16="http://schemas.microsoft.com/office/drawing/2014/main" id="{27336BA4-0B8D-039B-9DAD-17AC60C7DA75}"/>
              </a:ext>
            </a:extLst>
          </p:cNvPr>
          <p:cNvSpPr txBox="1"/>
          <p:nvPr/>
        </p:nvSpPr>
        <p:spPr>
          <a:xfrm>
            <a:off x="2151604" y="4432714"/>
            <a:ext cx="1074333" cy="323165"/>
          </a:xfrm>
          <a:prstGeom prst="rect">
            <a:avLst/>
          </a:prstGeom>
          <a:noFill/>
        </p:spPr>
        <p:txBody>
          <a:bodyPr wrap="none" rtlCol="0">
            <a:spAutoFit/>
          </a:bodyPr>
          <a:lstStyle/>
          <a:p>
            <a:r>
              <a:rPr kumimoji="1" lang="en-US" altLang="zh-CN" sz="1500" dirty="0">
                <a:latin typeface="Times New Roman" panose="02020603050405020304" pitchFamily="18" charset="0"/>
                <a:cs typeface="Times New Roman" panose="02020603050405020304" pitchFamily="18" charset="0"/>
              </a:rPr>
              <a:t>Light mode</a:t>
            </a:r>
            <a:endParaRPr kumimoji="1" lang="zh-CN" altLang="en-US" sz="15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BB3FFD8C-D37E-694C-3A4C-9B7F14A29233}"/>
              </a:ext>
            </a:extLst>
          </p:cNvPr>
          <p:cNvSpPr txBox="1"/>
          <p:nvPr/>
        </p:nvSpPr>
        <p:spPr>
          <a:xfrm>
            <a:off x="8678013" y="4405179"/>
            <a:ext cx="1043876" cy="323165"/>
          </a:xfrm>
          <a:prstGeom prst="rect">
            <a:avLst/>
          </a:prstGeom>
          <a:noFill/>
        </p:spPr>
        <p:txBody>
          <a:bodyPr wrap="none" rtlCol="0">
            <a:spAutoFit/>
          </a:bodyPr>
          <a:lstStyle/>
          <a:p>
            <a:r>
              <a:rPr kumimoji="1" lang="en-US" altLang="zh-CN" sz="1500" dirty="0">
                <a:latin typeface="Times New Roman" panose="02020603050405020304" pitchFamily="18" charset="0"/>
                <a:cs typeface="Times New Roman" panose="02020603050405020304" pitchFamily="18" charset="0"/>
              </a:rPr>
              <a:t>Dark mode</a:t>
            </a:r>
            <a:endParaRPr kumimoji="1" lang="zh-CN" altLang="en-US" sz="1500" dirty="0">
              <a:latin typeface="Times New Roman" panose="02020603050405020304" pitchFamily="18" charset="0"/>
              <a:cs typeface="Times New Roman" panose="02020603050405020304" pitchFamily="18" charset="0"/>
            </a:endParaRPr>
          </a:p>
        </p:txBody>
      </p:sp>
      <p:sp>
        <p:nvSpPr>
          <p:cNvPr id="7" name="TextBox 5">
            <a:extLst>
              <a:ext uri="{FF2B5EF4-FFF2-40B4-BE49-F238E27FC236}">
                <a16:creationId xmlns:a16="http://schemas.microsoft.com/office/drawing/2014/main" id="{3ADD6F8D-4BF0-DA1C-3E28-F8BF00DCEB47}"/>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9" name="AutoShape 18">
            <a:extLst>
              <a:ext uri="{FF2B5EF4-FFF2-40B4-BE49-F238E27FC236}">
                <a16:creationId xmlns:a16="http://schemas.microsoft.com/office/drawing/2014/main" id="{53277F05-9FC3-53F7-2953-F604E63CEE65}"/>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sp>
        <p:nvSpPr>
          <p:cNvPr id="11" name="文本框 10">
            <a:extLst>
              <a:ext uri="{FF2B5EF4-FFF2-40B4-BE49-F238E27FC236}">
                <a16:creationId xmlns:a16="http://schemas.microsoft.com/office/drawing/2014/main" id="{8E4BF586-A354-A86F-8100-90D564FBA9BB}"/>
              </a:ext>
            </a:extLst>
          </p:cNvPr>
          <p:cNvSpPr txBox="1"/>
          <p:nvPr/>
        </p:nvSpPr>
        <p:spPr>
          <a:xfrm>
            <a:off x="539012" y="641052"/>
            <a:ext cx="6096000" cy="369332"/>
          </a:xfrm>
          <a:prstGeom prst="rect">
            <a:avLst/>
          </a:prstGeom>
          <a:noFill/>
        </p:spPr>
        <p:txBody>
          <a:bodyPr wrap="square">
            <a:spAutoFit/>
          </a:bodyPr>
          <a:lstStyle/>
          <a:p>
            <a:r>
              <a:rPr kumimoji="1" lang="en-US" altLang="zh-CN" dirty="0">
                <a:latin typeface="Times New Roman" panose="02020603050405020304" pitchFamily="18" charset="0"/>
                <a:cs typeface="Times New Roman" panose="02020603050405020304" pitchFamily="18" charset="0"/>
              </a:rPr>
              <a:t>Overall Page design</a:t>
            </a:r>
          </a:p>
        </p:txBody>
      </p:sp>
      <p:sp>
        <p:nvSpPr>
          <p:cNvPr id="13" name="TextBox 6">
            <a:extLst>
              <a:ext uri="{FF2B5EF4-FFF2-40B4-BE49-F238E27FC236}">
                <a16:creationId xmlns:a16="http://schemas.microsoft.com/office/drawing/2014/main" id="{18B69017-DE0B-83F2-D0A3-E4986932364B}"/>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4246190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9"/>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0" name="Freeform 10"/>
          <p:cNvSpPr/>
          <p:nvPr/>
        </p:nvSpPr>
        <p:spPr>
          <a:xfrm rot="-7750267" flipV="1">
            <a:off x="270904" y="2259895"/>
            <a:ext cx="1114518" cy="1228427"/>
          </a:xfrm>
          <a:custGeom>
            <a:avLst/>
            <a:gdLst/>
            <a:ahLst/>
            <a:cxnLst/>
            <a:rect l="l" t="t" r="r" b="b"/>
            <a:pathLst>
              <a:path w="1671777" h="1842640">
                <a:moveTo>
                  <a:pt x="0" y="1842640"/>
                </a:moveTo>
                <a:lnTo>
                  <a:pt x="1671777" y="1842640"/>
                </a:lnTo>
                <a:lnTo>
                  <a:pt x="1671777" y="0"/>
                </a:lnTo>
                <a:lnTo>
                  <a:pt x="0" y="0"/>
                </a:lnTo>
                <a:lnTo>
                  <a:pt x="0" y="184264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8" name="TextBox 18"/>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26" name="TextBox 26"/>
          <p:cNvSpPr txBox="1"/>
          <p:nvPr/>
        </p:nvSpPr>
        <p:spPr>
          <a:xfrm>
            <a:off x="8913413" y="3393760"/>
            <a:ext cx="2538268" cy="1356397"/>
          </a:xfrm>
          <a:prstGeom prst="rect">
            <a:avLst/>
          </a:prstGeom>
        </p:spPr>
        <p:txBody>
          <a:bodyPr lIns="0" tIns="0" rIns="0" bIns="0" rtlCol="0" anchor="t">
            <a:spAutoFit/>
          </a:bodyPr>
          <a:lstStyle/>
          <a:p>
            <a:pPr>
              <a:lnSpc>
                <a:spcPts val="2673"/>
              </a:lnSpc>
            </a:pPr>
            <a:r>
              <a:rPr lang="en-US" sz="1713" b="1" dirty="0">
                <a:solidFill>
                  <a:srgbClr val="FFFFFF"/>
                </a:solidFill>
                <a:latin typeface="思源黑体 2 Bold"/>
                <a:ea typeface="思源黑体 2 Bold"/>
                <a:cs typeface="思源黑体 2 Bold"/>
                <a:sym typeface="思源黑体 2 Bold"/>
              </a:rPr>
              <a:t>prepare for </a:t>
            </a:r>
          </a:p>
          <a:p>
            <a:pPr>
              <a:lnSpc>
                <a:spcPts val="2673"/>
              </a:lnSpc>
            </a:pPr>
            <a:r>
              <a:rPr lang="en-US" sz="1713" b="1" dirty="0">
                <a:solidFill>
                  <a:srgbClr val="FFFFFF"/>
                </a:solidFill>
                <a:latin typeface="思源黑体 2 Bold"/>
                <a:ea typeface="思源黑体 2 Bold"/>
                <a:cs typeface="思源黑体 2 Bold"/>
                <a:sym typeface="思源黑体 2 Bold"/>
              </a:rPr>
              <a:t>direct employment</a:t>
            </a:r>
          </a:p>
          <a:p>
            <a:pPr>
              <a:lnSpc>
                <a:spcPts val="2673"/>
              </a:lnSpc>
            </a:pPr>
            <a:endParaRPr lang="en-US" sz="1713" b="1" dirty="0">
              <a:solidFill>
                <a:srgbClr val="FFFFFF"/>
              </a:solidFill>
              <a:latin typeface="思源黑体 2 Bold"/>
              <a:ea typeface="思源黑体 2 Bold"/>
              <a:cs typeface="思源黑体 2 Bold"/>
              <a:sym typeface="思源黑体 2 Bold"/>
            </a:endParaRPr>
          </a:p>
          <a:p>
            <a:pPr>
              <a:lnSpc>
                <a:spcPts val="2673"/>
              </a:lnSpc>
            </a:pPr>
            <a:endParaRPr lang="en-US" sz="1713" b="1" dirty="0">
              <a:solidFill>
                <a:srgbClr val="FFFFFF"/>
              </a:solidFill>
              <a:latin typeface="思源黑体 2 Bold"/>
              <a:ea typeface="思源黑体 2 Bold"/>
              <a:cs typeface="思源黑体 2 Bold"/>
              <a:sym typeface="思源黑体 2 Bold"/>
            </a:endParaRPr>
          </a:p>
        </p:txBody>
      </p:sp>
      <p:sp>
        <p:nvSpPr>
          <p:cNvPr id="30" name="TextBox 5">
            <a:extLst>
              <a:ext uri="{FF2B5EF4-FFF2-40B4-BE49-F238E27FC236}">
                <a16:creationId xmlns:a16="http://schemas.microsoft.com/office/drawing/2014/main" id="{468F958B-C525-14DB-DE43-5CCC35AD8C6F}"/>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D7FCC2E2-4979-EC82-C3C1-6CF67C64D014}"/>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sp>
        <p:nvSpPr>
          <p:cNvPr id="34" name="文本框 33">
            <a:extLst>
              <a:ext uri="{FF2B5EF4-FFF2-40B4-BE49-F238E27FC236}">
                <a16:creationId xmlns:a16="http://schemas.microsoft.com/office/drawing/2014/main" id="{EF5A73F8-9235-98EB-C68F-1C5A59936193}"/>
              </a:ext>
            </a:extLst>
          </p:cNvPr>
          <p:cNvSpPr txBox="1"/>
          <p:nvPr/>
        </p:nvSpPr>
        <p:spPr>
          <a:xfrm>
            <a:off x="539012" y="635156"/>
            <a:ext cx="6096000" cy="446276"/>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1 - Overall Page design</a:t>
            </a:r>
          </a:p>
        </p:txBody>
      </p:sp>
      <p:pic>
        <p:nvPicPr>
          <p:cNvPr id="35" name="图片 34">
            <a:extLst>
              <a:ext uri="{FF2B5EF4-FFF2-40B4-BE49-F238E27FC236}">
                <a16:creationId xmlns:a16="http://schemas.microsoft.com/office/drawing/2014/main" id="{47532A88-6F68-865F-7C8B-4DA07B016C8D}"/>
              </a:ext>
            </a:extLst>
          </p:cNvPr>
          <p:cNvPicPr>
            <a:picLocks noChangeAspect="1"/>
          </p:cNvPicPr>
          <p:nvPr/>
        </p:nvPicPr>
        <p:blipFill>
          <a:blip r:embed="rId7"/>
          <a:stretch>
            <a:fillRect/>
          </a:stretch>
        </p:blipFill>
        <p:spPr>
          <a:xfrm>
            <a:off x="1480457" y="1870589"/>
            <a:ext cx="7772400" cy="600442"/>
          </a:xfrm>
          <a:prstGeom prst="rect">
            <a:avLst/>
          </a:prstGeom>
        </p:spPr>
      </p:pic>
      <p:sp>
        <p:nvSpPr>
          <p:cNvPr id="36" name="文本框 35">
            <a:extLst>
              <a:ext uri="{FF2B5EF4-FFF2-40B4-BE49-F238E27FC236}">
                <a16:creationId xmlns:a16="http://schemas.microsoft.com/office/drawing/2014/main" id="{78819E35-437D-9F50-0DA0-1F78A68F4D43}"/>
              </a:ext>
            </a:extLst>
          </p:cNvPr>
          <p:cNvSpPr txBox="1"/>
          <p:nvPr/>
        </p:nvSpPr>
        <p:spPr>
          <a:xfrm>
            <a:off x="1785257" y="2664969"/>
            <a:ext cx="4722960"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The website is organized into eight sections.</a:t>
            </a:r>
          </a:p>
        </p:txBody>
      </p:sp>
      <p:pic>
        <p:nvPicPr>
          <p:cNvPr id="37" name="图片 36">
            <a:extLst>
              <a:ext uri="{FF2B5EF4-FFF2-40B4-BE49-F238E27FC236}">
                <a16:creationId xmlns:a16="http://schemas.microsoft.com/office/drawing/2014/main" id="{B892BBE6-3E95-A1E4-5614-6EE837E4608E}"/>
              </a:ext>
            </a:extLst>
          </p:cNvPr>
          <p:cNvPicPr>
            <a:picLocks noChangeAspect="1"/>
          </p:cNvPicPr>
          <p:nvPr/>
        </p:nvPicPr>
        <p:blipFill>
          <a:blip r:embed="rId8"/>
          <a:stretch>
            <a:fillRect/>
          </a:stretch>
        </p:blipFill>
        <p:spPr>
          <a:xfrm>
            <a:off x="700915" y="3219513"/>
            <a:ext cx="5395085" cy="2894543"/>
          </a:xfrm>
          <a:prstGeom prst="rect">
            <a:avLst/>
          </a:prstGeom>
        </p:spPr>
      </p:pic>
      <p:pic>
        <p:nvPicPr>
          <p:cNvPr id="38" name="图片 37">
            <a:extLst>
              <a:ext uri="{FF2B5EF4-FFF2-40B4-BE49-F238E27FC236}">
                <a16:creationId xmlns:a16="http://schemas.microsoft.com/office/drawing/2014/main" id="{3F9B6747-7ED0-101E-86B0-45C832B66974}"/>
              </a:ext>
            </a:extLst>
          </p:cNvPr>
          <p:cNvPicPr>
            <a:picLocks noChangeAspect="1"/>
          </p:cNvPicPr>
          <p:nvPr/>
        </p:nvPicPr>
        <p:blipFill>
          <a:blip r:embed="rId9"/>
          <a:stretch>
            <a:fillRect/>
          </a:stretch>
        </p:blipFill>
        <p:spPr>
          <a:xfrm>
            <a:off x="6508401" y="3219513"/>
            <a:ext cx="4722961" cy="2930533"/>
          </a:xfrm>
          <a:prstGeom prst="rect">
            <a:avLst/>
          </a:prstGeom>
        </p:spPr>
      </p:pic>
      <p:sp>
        <p:nvSpPr>
          <p:cNvPr id="40" name="文本框 39">
            <a:extLst>
              <a:ext uri="{FF2B5EF4-FFF2-40B4-BE49-F238E27FC236}">
                <a16:creationId xmlns:a16="http://schemas.microsoft.com/office/drawing/2014/main" id="{DB14DA05-D5C4-7753-E876-92977ABF625F}"/>
              </a:ext>
            </a:extLst>
          </p:cNvPr>
          <p:cNvSpPr txBox="1"/>
          <p:nvPr/>
        </p:nvSpPr>
        <p:spPr>
          <a:xfrm>
            <a:off x="2512679" y="6150046"/>
            <a:ext cx="1257075" cy="323165"/>
          </a:xfrm>
          <a:prstGeom prst="rect">
            <a:avLst/>
          </a:prstGeom>
          <a:noFill/>
        </p:spPr>
        <p:txBody>
          <a:bodyPr wrap="none" rtlCol="0">
            <a:spAutoFit/>
          </a:bodyPr>
          <a:lstStyle/>
          <a:p>
            <a:r>
              <a:rPr kumimoji="1" lang="en-US" altLang="zh-CN" sz="1500" dirty="0">
                <a:latin typeface="Times New Roman" panose="02020603050405020304" pitchFamily="18" charset="0"/>
                <a:cs typeface="Times New Roman" panose="02020603050405020304" pitchFamily="18" charset="0"/>
              </a:rPr>
              <a:t>About section</a:t>
            </a:r>
            <a:endParaRPr kumimoji="1" lang="zh-CN" altLang="en-US" sz="1500" dirty="0">
              <a:latin typeface="Times New Roman" panose="02020603050405020304" pitchFamily="18" charset="0"/>
              <a:cs typeface="Times New Roman" panose="02020603050405020304" pitchFamily="18" charset="0"/>
            </a:endParaRPr>
          </a:p>
        </p:txBody>
      </p:sp>
      <p:sp>
        <p:nvSpPr>
          <p:cNvPr id="41" name="文本框 40">
            <a:extLst>
              <a:ext uri="{FF2B5EF4-FFF2-40B4-BE49-F238E27FC236}">
                <a16:creationId xmlns:a16="http://schemas.microsoft.com/office/drawing/2014/main" id="{91EB95CB-683F-25AD-D3AF-AE09C38F06BE}"/>
              </a:ext>
            </a:extLst>
          </p:cNvPr>
          <p:cNvSpPr txBox="1"/>
          <p:nvPr/>
        </p:nvSpPr>
        <p:spPr>
          <a:xfrm>
            <a:off x="8304558" y="6150046"/>
            <a:ext cx="1213794" cy="323165"/>
          </a:xfrm>
          <a:prstGeom prst="rect">
            <a:avLst/>
          </a:prstGeom>
          <a:noFill/>
        </p:spPr>
        <p:txBody>
          <a:bodyPr wrap="none" rtlCol="0">
            <a:spAutoFit/>
          </a:bodyPr>
          <a:lstStyle>
            <a:defPPr>
              <a:defRPr lang="zh-CN"/>
            </a:defPPr>
            <a:lvl1pPr>
              <a:defRPr kumimoji="1" sz="1500">
                <a:latin typeface="Times New Roman" panose="02020603050405020304" pitchFamily="18" charset="0"/>
                <a:cs typeface="Times New Roman" panose="02020603050405020304" pitchFamily="18" charset="0"/>
              </a:defRPr>
            </a:lvl1pPr>
          </a:lstStyle>
          <a:p>
            <a:r>
              <a:rPr lang="en-US" altLang="zh-CN" dirty="0"/>
              <a:t>Skills section</a:t>
            </a:r>
            <a:endParaRPr lang="zh-CN" altLang="en-US" dirty="0"/>
          </a:p>
        </p:txBody>
      </p:sp>
      <p:sp>
        <p:nvSpPr>
          <p:cNvPr id="42" name="TextBox 6">
            <a:extLst>
              <a:ext uri="{FF2B5EF4-FFF2-40B4-BE49-F238E27FC236}">
                <a16:creationId xmlns:a16="http://schemas.microsoft.com/office/drawing/2014/main" id="{EFFCE0E6-75CB-9ED2-F0B3-77A87D2AA302}"/>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4E459-0131-67AB-DA8F-C16F6FB28A05}"/>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0ED3D240-E8A5-C3DD-A1CB-33221FE19BA6}"/>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0" name="Freeform 10">
            <a:extLst>
              <a:ext uri="{FF2B5EF4-FFF2-40B4-BE49-F238E27FC236}">
                <a16:creationId xmlns:a16="http://schemas.microsoft.com/office/drawing/2014/main" id="{BD3B9FEB-DD38-FF85-BF82-D48DFD5FEC82}"/>
              </a:ext>
            </a:extLst>
          </p:cNvPr>
          <p:cNvSpPr/>
          <p:nvPr/>
        </p:nvSpPr>
        <p:spPr>
          <a:xfrm rot="-7750267" flipV="1">
            <a:off x="270904" y="2259895"/>
            <a:ext cx="1114518" cy="1228427"/>
          </a:xfrm>
          <a:custGeom>
            <a:avLst/>
            <a:gdLst/>
            <a:ahLst/>
            <a:cxnLst/>
            <a:rect l="l" t="t" r="r" b="b"/>
            <a:pathLst>
              <a:path w="1671777" h="1842640">
                <a:moveTo>
                  <a:pt x="0" y="1842640"/>
                </a:moveTo>
                <a:lnTo>
                  <a:pt x="1671777" y="1842640"/>
                </a:lnTo>
                <a:lnTo>
                  <a:pt x="1671777" y="0"/>
                </a:lnTo>
                <a:lnTo>
                  <a:pt x="0" y="0"/>
                </a:lnTo>
                <a:lnTo>
                  <a:pt x="0" y="184264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7A78588B-165A-24F9-3608-AB9AA8C36013}"/>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26" name="TextBox 26">
            <a:extLst>
              <a:ext uri="{FF2B5EF4-FFF2-40B4-BE49-F238E27FC236}">
                <a16:creationId xmlns:a16="http://schemas.microsoft.com/office/drawing/2014/main" id="{DAC17773-E1F1-5ABB-CB7A-A3574D590CF0}"/>
              </a:ext>
            </a:extLst>
          </p:cNvPr>
          <p:cNvSpPr txBox="1"/>
          <p:nvPr/>
        </p:nvSpPr>
        <p:spPr>
          <a:xfrm>
            <a:off x="8913413" y="3393760"/>
            <a:ext cx="2538268" cy="1356397"/>
          </a:xfrm>
          <a:prstGeom prst="rect">
            <a:avLst/>
          </a:prstGeom>
        </p:spPr>
        <p:txBody>
          <a:bodyPr lIns="0" tIns="0" rIns="0" bIns="0" rtlCol="0" anchor="t">
            <a:spAutoFit/>
          </a:bodyPr>
          <a:lstStyle/>
          <a:p>
            <a:pPr>
              <a:lnSpc>
                <a:spcPts val="2673"/>
              </a:lnSpc>
            </a:pPr>
            <a:r>
              <a:rPr lang="en-US" sz="1713" b="1" dirty="0">
                <a:solidFill>
                  <a:srgbClr val="FFFFFF"/>
                </a:solidFill>
                <a:latin typeface="思源黑体 2 Bold"/>
                <a:ea typeface="思源黑体 2 Bold"/>
                <a:cs typeface="思源黑体 2 Bold"/>
                <a:sym typeface="思源黑体 2 Bold"/>
              </a:rPr>
              <a:t>prepare for </a:t>
            </a:r>
          </a:p>
          <a:p>
            <a:pPr>
              <a:lnSpc>
                <a:spcPts val="2673"/>
              </a:lnSpc>
            </a:pPr>
            <a:r>
              <a:rPr lang="en-US" sz="1713" b="1" dirty="0">
                <a:solidFill>
                  <a:srgbClr val="FFFFFF"/>
                </a:solidFill>
                <a:latin typeface="思源黑体 2 Bold"/>
                <a:ea typeface="思源黑体 2 Bold"/>
                <a:cs typeface="思源黑体 2 Bold"/>
                <a:sym typeface="思源黑体 2 Bold"/>
              </a:rPr>
              <a:t>direct employment</a:t>
            </a:r>
          </a:p>
          <a:p>
            <a:pPr>
              <a:lnSpc>
                <a:spcPts val="2673"/>
              </a:lnSpc>
            </a:pPr>
            <a:endParaRPr lang="en-US" sz="1713" b="1" dirty="0">
              <a:solidFill>
                <a:srgbClr val="FFFFFF"/>
              </a:solidFill>
              <a:latin typeface="思源黑体 2 Bold"/>
              <a:ea typeface="思源黑体 2 Bold"/>
              <a:cs typeface="思源黑体 2 Bold"/>
              <a:sym typeface="思源黑体 2 Bold"/>
            </a:endParaRPr>
          </a:p>
          <a:p>
            <a:pPr>
              <a:lnSpc>
                <a:spcPts val="2673"/>
              </a:lnSpc>
            </a:pPr>
            <a:endParaRPr lang="en-US" sz="1713" b="1" dirty="0">
              <a:solidFill>
                <a:srgbClr val="FFFFFF"/>
              </a:solidFill>
              <a:latin typeface="思源黑体 2 Bold"/>
              <a:ea typeface="思源黑体 2 Bold"/>
              <a:cs typeface="思源黑体 2 Bold"/>
              <a:sym typeface="思源黑体 2 Bold"/>
            </a:endParaRPr>
          </a:p>
        </p:txBody>
      </p:sp>
      <p:sp>
        <p:nvSpPr>
          <p:cNvPr id="30" name="TextBox 5">
            <a:extLst>
              <a:ext uri="{FF2B5EF4-FFF2-40B4-BE49-F238E27FC236}">
                <a16:creationId xmlns:a16="http://schemas.microsoft.com/office/drawing/2014/main" id="{CDEADCB8-7558-3093-9EC0-B48D0EB806CB}"/>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1C2EB2A2-1741-9904-F3B9-64492E2C30C9}"/>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pic>
        <p:nvPicPr>
          <p:cNvPr id="2" name="图片 1">
            <a:extLst>
              <a:ext uri="{FF2B5EF4-FFF2-40B4-BE49-F238E27FC236}">
                <a16:creationId xmlns:a16="http://schemas.microsoft.com/office/drawing/2014/main" id="{8E4D7210-BBC4-6147-F3A7-F23000DEB920}"/>
              </a:ext>
            </a:extLst>
          </p:cNvPr>
          <p:cNvPicPr>
            <a:picLocks noChangeAspect="1"/>
          </p:cNvPicPr>
          <p:nvPr/>
        </p:nvPicPr>
        <p:blipFill>
          <a:blip r:embed="rId7"/>
          <a:stretch>
            <a:fillRect/>
          </a:stretch>
        </p:blipFill>
        <p:spPr>
          <a:xfrm>
            <a:off x="1463301" y="852513"/>
            <a:ext cx="7772400" cy="600442"/>
          </a:xfrm>
          <a:prstGeom prst="rect">
            <a:avLst/>
          </a:prstGeom>
        </p:spPr>
      </p:pic>
      <p:sp>
        <p:nvSpPr>
          <p:cNvPr id="3" name="文本框 2">
            <a:extLst>
              <a:ext uri="{FF2B5EF4-FFF2-40B4-BE49-F238E27FC236}">
                <a16:creationId xmlns:a16="http://schemas.microsoft.com/office/drawing/2014/main" id="{B2412ABC-F992-2C49-FF9B-D93F9CF55007}"/>
              </a:ext>
            </a:extLst>
          </p:cNvPr>
          <p:cNvSpPr txBox="1"/>
          <p:nvPr/>
        </p:nvSpPr>
        <p:spPr>
          <a:xfrm>
            <a:off x="1768101" y="1646893"/>
            <a:ext cx="4722960" cy="400110"/>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The website is organized into eight sections.</a:t>
            </a:r>
          </a:p>
        </p:txBody>
      </p:sp>
      <p:pic>
        <p:nvPicPr>
          <p:cNvPr id="4" name="图片 3">
            <a:extLst>
              <a:ext uri="{FF2B5EF4-FFF2-40B4-BE49-F238E27FC236}">
                <a16:creationId xmlns:a16="http://schemas.microsoft.com/office/drawing/2014/main" id="{CCE399FB-8E9D-1EC8-2C74-1231BA150B1E}"/>
              </a:ext>
            </a:extLst>
          </p:cNvPr>
          <p:cNvPicPr>
            <a:picLocks noChangeAspect="1"/>
          </p:cNvPicPr>
          <p:nvPr/>
        </p:nvPicPr>
        <p:blipFill>
          <a:blip r:embed="rId8"/>
          <a:stretch>
            <a:fillRect/>
          </a:stretch>
        </p:blipFill>
        <p:spPr>
          <a:xfrm>
            <a:off x="1286338" y="2240941"/>
            <a:ext cx="4792506" cy="3209559"/>
          </a:xfrm>
          <a:prstGeom prst="rect">
            <a:avLst/>
          </a:prstGeom>
        </p:spPr>
      </p:pic>
      <p:pic>
        <p:nvPicPr>
          <p:cNvPr id="5" name="图片 4">
            <a:extLst>
              <a:ext uri="{FF2B5EF4-FFF2-40B4-BE49-F238E27FC236}">
                <a16:creationId xmlns:a16="http://schemas.microsoft.com/office/drawing/2014/main" id="{38BB914F-A900-139B-FD96-12E2C1FDB722}"/>
              </a:ext>
            </a:extLst>
          </p:cNvPr>
          <p:cNvPicPr>
            <a:picLocks noChangeAspect="1"/>
          </p:cNvPicPr>
          <p:nvPr/>
        </p:nvPicPr>
        <p:blipFill>
          <a:blip r:embed="rId9"/>
          <a:stretch>
            <a:fillRect/>
          </a:stretch>
        </p:blipFill>
        <p:spPr>
          <a:xfrm>
            <a:off x="6182803" y="2240941"/>
            <a:ext cx="5537914" cy="3209559"/>
          </a:xfrm>
          <a:prstGeom prst="rect">
            <a:avLst/>
          </a:prstGeom>
        </p:spPr>
      </p:pic>
      <p:sp>
        <p:nvSpPr>
          <p:cNvPr id="6" name="文本框 5">
            <a:extLst>
              <a:ext uri="{FF2B5EF4-FFF2-40B4-BE49-F238E27FC236}">
                <a16:creationId xmlns:a16="http://schemas.microsoft.com/office/drawing/2014/main" id="{4A71A700-F5CB-1663-6CD2-9A92FD40CFEB}"/>
              </a:ext>
            </a:extLst>
          </p:cNvPr>
          <p:cNvSpPr txBox="1"/>
          <p:nvPr/>
        </p:nvSpPr>
        <p:spPr>
          <a:xfrm>
            <a:off x="2696917" y="5450500"/>
            <a:ext cx="1555234" cy="323165"/>
          </a:xfrm>
          <a:prstGeom prst="rect">
            <a:avLst/>
          </a:prstGeom>
          <a:noFill/>
        </p:spPr>
        <p:txBody>
          <a:bodyPr wrap="none" rtlCol="0">
            <a:spAutoFit/>
          </a:bodyPr>
          <a:lstStyle/>
          <a:p>
            <a:r>
              <a:rPr kumimoji="1" lang="en-US" altLang="zh-CN" sz="1500" dirty="0">
                <a:latin typeface="Times New Roman" panose="02020603050405020304" pitchFamily="18" charset="0"/>
                <a:cs typeface="Times New Roman" panose="02020603050405020304" pitchFamily="18" charset="0"/>
              </a:rPr>
              <a:t>Readiness section</a:t>
            </a:r>
            <a:endParaRPr kumimoji="1" lang="zh-CN" altLang="en-US" sz="1500"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37E65F67-6C3B-6FD0-BF3F-435B80E01138}"/>
              </a:ext>
            </a:extLst>
          </p:cNvPr>
          <p:cNvSpPr txBox="1"/>
          <p:nvPr/>
        </p:nvSpPr>
        <p:spPr>
          <a:xfrm>
            <a:off x="8448466" y="5450500"/>
            <a:ext cx="1574470" cy="323165"/>
          </a:xfrm>
          <a:prstGeom prst="rect">
            <a:avLst/>
          </a:prstGeom>
          <a:noFill/>
        </p:spPr>
        <p:txBody>
          <a:bodyPr wrap="none" rtlCol="0">
            <a:spAutoFit/>
          </a:bodyPr>
          <a:lstStyle/>
          <a:p>
            <a:r>
              <a:rPr kumimoji="1" lang="en-US" altLang="zh-CN" sz="1500" dirty="0">
                <a:latin typeface="Times New Roman" panose="02020603050405020304" pitchFamily="18" charset="0"/>
                <a:cs typeface="Times New Roman" panose="02020603050405020304" pitchFamily="18" charset="0"/>
              </a:rPr>
              <a:t>Reflection section</a:t>
            </a:r>
            <a:endParaRPr kumimoji="1" lang="zh-CN" altLang="en-US" sz="15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4C7EB655-40CD-B194-83AD-18B25BA6F834}"/>
              </a:ext>
            </a:extLst>
          </p:cNvPr>
          <p:cNvSpPr txBox="1"/>
          <p:nvPr/>
        </p:nvSpPr>
        <p:spPr>
          <a:xfrm>
            <a:off x="560558" y="438006"/>
            <a:ext cx="6096000" cy="446276"/>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1 - Overall Page design</a:t>
            </a:r>
          </a:p>
        </p:txBody>
      </p:sp>
      <p:sp>
        <p:nvSpPr>
          <p:cNvPr id="11" name="TextBox 6">
            <a:extLst>
              <a:ext uri="{FF2B5EF4-FFF2-40B4-BE49-F238E27FC236}">
                <a16:creationId xmlns:a16="http://schemas.microsoft.com/office/drawing/2014/main" id="{C77C778A-F500-2C84-E81B-B1793F9472B8}"/>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2919760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9BAB9-0601-98A5-197D-112CDBB114B1}"/>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5CA5FD4A-AA48-2967-786F-923CB9AF1F2B}"/>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0" name="Freeform 10">
            <a:extLst>
              <a:ext uri="{FF2B5EF4-FFF2-40B4-BE49-F238E27FC236}">
                <a16:creationId xmlns:a16="http://schemas.microsoft.com/office/drawing/2014/main" id="{CE4ED2FF-2B27-8BD0-2238-498BF5398030}"/>
              </a:ext>
            </a:extLst>
          </p:cNvPr>
          <p:cNvSpPr/>
          <p:nvPr/>
        </p:nvSpPr>
        <p:spPr>
          <a:xfrm rot="-7750267" flipV="1">
            <a:off x="270904" y="2259895"/>
            <a:ext cx="1114518" cy="1228427"/>
          </a:xfrm>
          <a:custGeom>
            <a:avLst/>
            <a:gdLst/>
            <a:ahLst/>
            <a:cxnLst/>
            <a:rect l="l" t="t" r="r" b="b"/>
            <a:pathLst>
              <a:path w="1671777" h="1842640">
                <a:moveTo>
                  <a:pt x="0" y="1842640"/>
                </a:moveTo>
                <a:lnTo>
                  <a:pt x="1671777" y="1842640"/>
                </a:lnTo>
                <a:lnTo>
                  <a:pt x="1671777" y="0"/>
                </a:lnTo>
                <a:lnTo>
                  <a:pt x="0" y="0"/>
                </a:lnTo>
                <a:lnTo>
                  <a:pt x="0" y="184264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6EEB9556-EE4E-2005-DC72-3C7776F0B312}"/>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26" name="TextBox 26">
            <a:extLst>
              <a:ext uri="{FF2B5EF4-FFF2-40B4-BE49-F238E27FC236}">
                <a16:creationId xmlns:a16="http://schemas.microsoft.com/office/drawing/2014/main" id="{3E75A90D-0C1A-1346-189C-71E848A4A756}"/>
              </a:ext>
            </a:extLst>
          </p:cNvPr>
          <p:cNvSpPr txBox="1"/>
          <p:nvPr/>
        </p:nvSpPr>
        <p:spPr>
          <a:xfrm>
            <a:off x="8913413" y="3393760"/>
            <a:ext cx="2538268" cy="1356397"/>
          </a:xfrm>
          <a:prstGeom prst="rect">
            <a:avLst/>
          </a:prstGeom>
        </p:spPr>
        <p:txBody>
          <a:bodyPr lIns="0" tIns="0" rIns="0" bIns="0" rtlCol="0" anchor="t">
            <a:spAutoFit/>
          </a:bodyPr>
          <a:lstStyle/>
          <a:p>
            <a:pPr>
              <a:lnSpc>
                <a:spcPts val="2673"/>
              </a:lnSpc>
            </a:pPr>
            <a:r>
              <a:rPr lang="en-US" sz="1713" b="1" dirty="0">
                <a:solidFill>
                  <a:srgbClr val="FFFFFF"/>
                </a:solidFill>
                <a:latin typeface="思源黑体 2 Bold"/>
                <a:ea typeface="思源黑体 2 Bold"/>
                <a:cs typeface="思源黑体 2 Bold"/>
                <a:sym typeface="思源黑体 2 Bold"/>
              </a:rPr>
              <a:t>prepare for </a:t>
            </a:r>
          </a:p>
          <a:p>
            <a:pPr>
              <a:lnSpc>
                <a:spcPts val="2673"/>
              </a:lnSpc>
            </a:pPr>
            <a:r>
              <a:rPr lang="en-US" sz="1713" b="1" dirty="0">
                <a:solidFill>
                  <a:srgbClr val="FFFFFF"/>
                </a:solidFill>
                <a:latin typeface="思源黑体 2 Bold"/>
                <a:ea typeface="思源黑体 2 Bold"/>
                <a:cs typeface="思源黑体 2 Bold"/>
                <a:sym typeface="思源黑体 2 Bold"/>
              </a:rPr>
              <a:t>direct employment</a:t>
            </a:r>
          </a:p>
          <a:p>
            <a:pPr>
              <a:lnSpc>
                <a:spcPts val="2673"/>
              </a:lnSpc>
            </a:pPr>
            <a:endParaRPr lang="en-US" sz="1713" b="1" dirty="0">
              <a:solidFill>
                <a:srgbClr val="FFFFFF"/>
              </a:solidFill>
              <a:latin typeface="思源黑体 2 Bold"/>
              <a:ea typeface="思源黑体 2 Bold"/>
              <a:cs typeface="思源黑体 2 Bold"/>
              <a:sym typeface="思源黑体 2 Bold"/>
            </a:endParaRPr>
          </a:p>
          <a:p>
            <a:pPr>
              <a:lnSpc>
                <a:spcPts val="2673"/>
              </a:lnSpc>
            </a:pPr>
            <a:endParaRPr lang="en-US" sz="1713" b="1" dirty="0">
              <a:solidFill>
                <a:srgbClr val="FFFFFF"/>
              </a:solidFill>
              <a:latin typeface="思源黑体 2 Bold"/>
              <a:ea typeface="思源黑体 2 Bold"/>
              <a:cs typeface="思源黑体 2 Bold"/>
              <a:sym typeface="思源黑体 2 Bold"/>
            </a:endParaRPr>
          </a:p>
        </p:txBody>
      </p:sp>
      <p:sp>
        <p:nvSpPr>
          <p:cNvPr id="30" name="TextBox 5">
            <a:extLst>
              <a:ext uri="{FF2B5EF4-FFF2-40B4-BE49-F238E27FC236}">
                <a16:creationId xmlns:a16="http://schemas.microsoft.com/office/drawing/2014/main" id="{0B54A2EB-2D3F-06DE-21C2-3466E3B47511}"/>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7A9AF36B-3006-EC81-663E-070EE3A0A911}"/>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pic>
        <p:nvPicPr>
          <p:cNvPr id="2" name="图片 1">
            <a:extLst>
              <a:ext uri="{FF2B5EF4-FFF2-40B4-BE49-F238E27FC236}">
                <a16:creationId xmlns:a16="http://schemas.microsoft.com/office/drawing/2014/main" id="{7EF10890-9BD2-04AA-9C21-F5EBFF5D8900}"/>
              </a:ext>
            </a:extLst>
          </p:cNvPr>
          <p:cNvPicPr>
            <a:picLocks noChangeAspect="1"/>
          </p:cNvPicPr>
          <p:nvPr/>
        </p:nvPicPr>
        <p:blipFill>
          <a:blip r:embed="rId7"/>
          <a:stretch>
            <a:fillRect/>
          </a:stretch>
        </p:blipFill>
        <p:spPr>
          <a:xfrm>
            <a:off x="321311" y="1081432"/>
            <a:ext cx="5688396" cy="3534137"/>
          </a:xfrm>
          <a:prstGeom prst="rect">
            <a:avLst/>
          </a:prstGeom>
        </p:spPr>
      </p:pic>
      <p:sp>
        <p:nvSpPr>
          <p:cNvPr id="4" name="文本框 3">
            <a:extLst>
              <a:ext uri="{FF2B5EF4-FFF2-40B4-BE49-F238E27FC236}">
                <a16:creationId xmlns:a16="http://schemas.microsoft.com/office/drawing/2014/main" id="{05F07DDA-FA9C-A2E4-B1B6-8666A2799DA2}"/>
              </a:ext>
            </a:extLst>
          </p:cNvPr>
          <p:cNvSpPr txBox="1"/>
          <p:nvPr/>
        </p:nvSpPr>
        <p:spPr>
          <a:xfrm>
            <a:off x="6782919" y="2206993"/>
            <a:ext cx="4668762" cy="784830"/>
          </a:xfrm>
          <a:prstGeom prst="rect">
            <a:avLst/>
          </a:prstGeom>
          <a:noFill/>
        </p:spPr>
        <p:txBody>
          <a:bodyPr wrap="square" rtlCol="0">
            <a:spAutoFit/>
          </a:bodyPr>
          <a:lstStyle/>
          <a:p>
            <a:r>
              <a:rPr lang="en-US" altLang="zh-CN" sz="1500" dirty="0">
                <a:latin typeface="Times New Roman" panose="02020603050405020304" pitchFamily="18" charset="0"/>
                <a:cs typeface="Times New Roman" panose="02020603050405020304" pitchFamily="18" charset="0"/>
              </a:rPr>
              <a:t>First, on the Master’s page, I introduced how students can prepare for graduate school applications.</a:t>
            </a:r>
          </a:p>
          <a:p>
            <a:endParaRPr kumimoji="1" lang="zh-CN" altLang="en-US" sz="1500" dirty="0">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1DF366BC-6475-E613-286F-D403D5755307}"/>
              </a:ext>
            </a:extLst>
          </p:cNvPr>
          <p:cNvPicPr>
            <a:picLocks noChangeAspect="1"/>
          </p:cNvPicPr>
          <p:nvPr/>
        </p:nvPicPr>
        <p:blipFill>
          <a:blip r:embed="rId8"/>
          <a:stretch>
            <a:fillRect/>
          </a:stretch>
        </p:blipFill>
        <p:spPr>
          <a:xfrm>
            <a:off x="5571854" y="3179713"/>
            <a:ext cx="4887875" cy="3620648"/>
          </a:xfrm>
          <a:prstGeom prst="rect">
            <a:avLst/>
          </a:prstGeom>
        </p:spPr>
      </p:pic>
      <p:sp>
        <p:nvSpPr>
          <p:cNvPr id="6" name="文本框 5">
            <a:extLst>
              <a:ext uri="{FF2B5EF4-FFF2-40B4-BE49-F238E27FC236}">
                <a16:creationId xmlns:a16="http://schemas.microsoft.com/office/drawing/2014/main" id="{E1D1C9E8-ACCC-AB1C-F857-9D7D21B29A38}"/>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2 – Design </a:t>
            </a:r>
            <a:r>
              <a:rPr kumimoji="1" lang="en-US" altLang="zh-CN" sz="2400" dirty="0">
                <a:latin typeface="Times New Roman" panose="02020603050405020304" pitchFamily="18" charset="0"/>
                <a:cs typeface="Times New Roman" panose="02020603050405020304" pitchFamily="18" charset="0"/>
              </a:rPr>
              <a:t>and develop </a:t>
            </a:r>
            <a:r>
              <a:rPr kumimoji="1" lang="en-US" altLang="zh-CN" sz="2300" dirty="0">
                <a:solidFill>
                  <a:srgbClr val="FF0000"/>
                </a:solidFill>
                <a:latin typeface="Times New Roman" panose="02020603050405020304" pitchFamily="18" charset="0"/>
                <a:cs typeface="Times New Roman" panose="02020603050405020304" pitchFamily="18" charset="0"/>
              </a:rPr>
              <a:t>Master’s</a:t>
            </a:r>
            <a:r>
              <a:rPr kumimoji="1" lang="en-US" altLang="zh-CN" sz="2300" dirty="0">
                <a:latin typeface="Times New Roman" panose="02020603050405020304" pitchFamily="18" charset="0"/>
                <a:cs typeface="Times New Roman" panose="02020603050405020304" pitchFamily="18" charset="0"/>
              </a:rPr>
              <a:t> page</a:t>
            </a:r>
          </a:p>
        </p:txBody>
      </p:sp>
      <p:sp>
        <p:nvSpPr>
          <p:cNvPr id="7" name="TextBox 6">
            <a:extLst>
              <a:ext uri="{FF2B5EF4-FFF2-40B4-BE49-F238E27FC236}">
                <a16:creationId xmlns:a16="http://schemas.microsoft.com/office/drawing/2014/main" id="{225C7CD0-8942-B7F9-2B7A-6E7E958B66F6}"/>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32315789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36D08-CFED-FD11-FF77-3B29BECFC35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88BDB226-63C6-12E3-7A76-5E93DB6998F5}"/>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0" name="Freeform 10">
            <a:extLst>
              <a:ext uri="{FF2B5EF4-FFF2-40B4-BE49-F238E27FC236}">
                <a16:creationId xmlns:a16="http://schemas.microsoft.com/office/drawing/2014/main" id="{C7E7D9CC-062E-49A6-E1E0-FC9A0037955B}"/>
              </a:ext>
            </a:extLst>
          </p:cNvPr>
          <p:cNvSpPr/>
          <p:nvPr/>
        </p:nvSpPr>
        <p:spPr>
          <a:xfrm rot="-7750267" flipV="1">
            <a:off x="270904" y="2259895"/>
            <a:ext cx="1114518" cy="1228427"/>
          </a:xfrm>
          <a:custGeom>
            <a:avLst/>
            <a:gdLst/>
            <a:ahLst/>
            <a:cxnLst/>
            <a:rect l="l" t="t" r="r" b="b"/>
            <a:pathLst>
              <a:path w="1671777" h="1842640">
                <a:moveTo>
                  <a:pt x="0" y="1842640"/>
                </a:moveTo>
                <a:lnTo>
                  <a:pt x="1671777" y="1842640"/>
                </a:lnTo>
                <a:lnTo>
                  <a:pt x="1671777" y="0"/>
                </a:lnTo>
                <a:lnTo>
                  <a:pt x="0" y="0"/>
                </a:lnTo>
                <a:lnTo>
                  <a:pt x="0" y="184264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E966F5B9-F348-6E9F-AD48-A98999452533}"/>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26" name="TextBox 26">
            <a:extLst>
              <a:ext uri="{FF2B5EF4-FFF2-40B4-BE49-F238E27FC236}">
                <a16:creationId xmlns:a16="http://schemas.microsoft.com/office/drawing/2014/main" id="{528C3D58-E5FF-D158-90A7-D2782479E203}"/>
              </a:ext>
            </a:extLst>
          </p:cNvPr>
          <p:cNvSpPr txBox="1"/>
          <p:nvPr/>
        </p:nvSpPr>
        <p:spPr>
          <a:xfrm>
            <a:off x="8913413" y="3393760"/>
            <a:ext cx="2538268" cy="1356397"/>
          </a:xfrm>
          <a:prstGeom prst="rect">
            <a:avLst/>
          </a:prstGeom>
        </p:spPr>
        <p:txBody>
          <a:bodyPr lIns="0" tIns="0" rIns="0" bIns="0" rtlCol="0" anchor="t">
            <a:spAutoFit/>
          </a:bodyPr>
          <a:lstStyle/>
          <a:p>
            <a:pPr>
              <a:lnSpc>
                <a:spcPts val="2673"/>
              </a:lnSpc>
            </a:pPr>
            <a:r>
              <a:rPr lang="en-US" sz="1713" b="1" dirty="0">
                <a:solidFill>
                  <a:srgbClr val="FFFFFF"/>
                </a:solidFill>
                <a:latin typeface="思源黑体 2 Bold"/>
                <a:ea typeface="思源黑体 2 Bold"/>
                <a:cs typeface="思源黑体 2 Bold"/>
                <a:sym typeface="思源黑体 2 Bold"/>
              </a:rPr>
              <a:t>prepare for </a:t>
            </a:r>
          </a:p>
          <a:p>
            <a:pPr>
              <a:lnSpc>
                <a:spcPts val="2673"/>
              </a:lnSpc>
            </a:pPr>
            <a:r>
              <a:rPr lang="en-US" sz="1713" b="1" dirty="0">
                <a:solidFill>
                  <a:srgbClr val="FFFFFF"/>
                </a:solidFill>
                <a:latin typeface="思源黑体 2 Bold"/>
                <a:ea typeface="思源黑体 2 Bold"/>
                <a:cs typeface="思源黑体 2 Bold"/>
                <a:sym typeface="思源黑体 2 Bold"/>
              </a:rPr>
              <a:t>direct employment</a:t>
            </a:r>
          </a:p>
          <a:p>
            <a:pPr>
              <a:lnSpc>
                <a:spcPts val="2673"/>
              </a:lnSpc>
            </a:pPr>
            <a:endParaRPr lang="en-US" sz="1713" b="1" dirty="0">
              <a:solidFill>
                <a:srgbClr val="FFFFFF"/>
              </a:solidFill>
              <a:latin typeface="思源黑体 2 Bold"/>
              <a:ea typeface="思源黑体 2 Bold"/>
              <a:cs typeface="思源黑体 2 Bold"/>
              <a:sym typeface="思源黑体 2 Bold"/>
            </a:endParaRPr>
          </a:p>
          <a:p>
            <a:pPr>
              <a:lnSpc>
                <a:spcPts val="2673"/>
              </a:lnSpc>
            </a:pPr>
            <a:endParaRPr lang="en-US" sz="1713" b="1" dirty="0">
              <a:solidFill>
                <a:srgbClr val="FFFFFF"/>
              </a:solidFill>
              <a:latin typeface="思源黑体 2 Bold"/>
              <a:ea typeface="思源黑体 2 Bold"/>
              <a:cs typeface="思源黑体 2 Bold"/>
              <a:sym typeface="思源黑体 2 Bold"/>
            </a:endParaRPr>
          </a:p>
        </p:txBody>
      </p:sp>
      <p:sp>
        <p:nvSpPr>
          <p:cNvPr id="30" name="TextBox 5">
            <a:extLst>
              <a:ext uri="{FF2B5EF4-FFF2-40B4-BE49-F238E27FC236}">
                <a16:creationId xmlns:a16="http://schemas.microsoft.com/office/drawing/2014/main" id="{311F11AA-FF91-04CE-E32C-A4A56080423A}"/>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C9838A1E-9EA1-9468-9F96-9AE7B8BF75E2}"/>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pic>
        <p:nvPicPr>
          <p:cNvPr id="2" name="图片 1">
            <a:extLst>
              <a:ext uri="{FF2B5EF4-FFF2-40B4-BE49-F238E27FC236}">
                <a16:creationId xmlns:a16="http://schemas.microsoft.com/office/drawing/2014/main" id="{33944A94-9637-38E3-B206-0EA12B23E933}"/>
              </a:ext>
            </a:extLst>
          </p:cNvPr>
          <p:cNvPicPr>
            <a:picLocks noChangeAspect="1"/>
          </p:cNvPicPr>
          <p:nvPr/>
        </p:nvPicPr>
        <p:blipFill>
          <a:blip r:embed="rId7"/>
          <a:stretch>
            <a:fillRect/>
          </a:stretch>
        </p:blipFill>
        <p:spPr>
          <a:xfrm>
            <a:off x="753440" y="1209734"/>
            <a:ext cx="9429107" cy="3932349"/>
          </a:xfrm>
          <a:prstGeom prst="rect">
            <a:avLst/>
          </a:prstGeom>
        </p:spPr>
      </p:pic>
      <p:sp>
        <p:nvSpPr>
          <p:cNvPr id="4" name="文本框 3">
            <a:extLst>
              <a:ext uri="{FF2B5EF4-FFF2-40B4-BE49-F238E27FC236}">
                <a16:creationId xmlns:a16="http://schemas.microsoft.com/office/drawing/2014/main" id="{36FC955F-061D-4944-7C77-56A05F5DE20E}"/>
              </a:ext>
            </a:extLst>
          </p:cNvPr>
          <p:cNvSpPr txBox="1"/>
          <p:nvPr/>
        </p:nvSpPr>
        <p:spPr>
          <a:xfrm>
            <a:off x="1458480" y="5217219"/>
            <a:ext cx="9275040" cy="553998"/>
          </a:xfrm>
          <a:prstGeom prst="rect">
            <a:avLst/>
          </a:prstGeom>
          <a:noFill/>
        </p:spPr>
        <p:txBody>
          <a:bodyPr wrap="none" rtlCol="0">
            <a:spAutoFit/>
          </a:bodyPr>
          <a:lstStyle/>
          <a:p>
            <a:r>
              <a:rPr lang="en-US" altLang="zh-CN" sz="1500" dirty="0">
                <a:latin typeface="Times New Roman" panose="02020603050405020304" pitchFamily="18" charset="0"/>
                <a:cs typeface="Times New Roman" panose="02020603050405020304" pitchFamily="18" charset="0"/>
              </a:rPr>
              <a:t>Second, I introduced the materials required for Master’s applications and explained how to prepare them effectively.</a:t>
            </a:r>
          </a:p>
          <a:p>
            <a:endParaRPr kumimoji="1" lang="zh-CN" altLang="en-US" sz="15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67C7016E-F4F5-9BF8-F5A3-2ED998DF1780}"/>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2 – Design </a:t>
            </a:r>
            <a:r>
              <a:rPr kumimoji="1" lang="en-US" altLang="zh-CN" sz="2400" dirty="0">
                <a:latin typeface="Times New Roman" panose="02020603050405020304" pitchFamily="18" charset="0"/>
                <a:cs typeface="Times New Roman" panose="02020603050405020304" pitchFamily="18" charset="0"/>
              </a:rPr>
              <a:t>and develop </a:t>
            </a:r>
            <a:r>
              <a:rPr kumimoji="1" lang="en-US" altLang="zh-CN" sz="2300" dirty="0">
                <a:solidFill>
                  <a:srgbClr val="FF0000"/>
                </a:solidFill>
                <a:latin typeface="Times New Roman" panose="02020603050405020304" pitchFamily="18" charset="0"/>
                <a:cs typeface="Times New Roman" panose="02020603050405020304" pitchFamily="18" charset="0"/>
              </a:rPr>
              <a:t>Master’s</a:t>
            </a:r>
            <a:r>
              <a:rPr kumimoji="1" lang="en-US" altLang="zh-CN" sz="2300" dirty="0">
                <a:latin typeface="Times New Roman" panose="02020603050405020304" pitchFamily="18" charset="0"/>
                <a:cs typeface="Times New Roman" panose="02020603050405020304" pitchFamily="18" charset="0"/>
              </a:rPr>
              <a:t> page</a:t>
            </a:r>
          </a:p>
        </p:txBody>
      </p:sp>
      <p:sp>
        <p:nvSpPr>
          <p:cNvPr id="6" name="TextBox 6">
            <a:extLst>
              <a:ext uri="{FF2B5EF4-FFF2-40B4-BE49-F238E27FC236}">
                <a16:creationId xmlns:a16="http://schemas.microsoft.com/office/drawing/2014/main" id="{987BE022-AF2C-C3CE-9D9F-86A08ED43AFB}"/>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3200003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283C7-B4CD-246C-8C0C-608305F62F0A}"/>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74257BCD-1E1B-E92D-8CD3-EDEE9C12D06E}"/>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0" name="Freeform 10">
            <a:extLst>
              <a:ext uri="{FF2B5EF4-FFF2-40B4-BE49-F238E27FC236}">
                <a16:creationId xmlns:a16="http://schemas.microsoft.com/office/drawing/2014/main" id="{C54587CC-0062-3969-D60F-4D58AD33E77A}"/>
              </a:ext>
            </a:extLst>
          </p:cNvPr>
          <p:cNvSpPr/>
          <p:nvPr/>
        </p:nvSpPr>
        <p:spPr>
          <a:xfrm rot="-7750267" flipV="1">
            <a:off x="270904" y="2259895"/>
            <a:ext cx="1114518" cy="1228427"/>
          </a:xfrm>
          <a:custGeom>
            <a:avLst/>
            <a:gdLst/>
            <a:ahLst/>
            <a:cxnLst/>
            <a:rect l="l" t="t" r="r" b="b"/>
            <a:pathLst>
              <a:path w="1671777" h="1842640">
                <a:moveTo>
                  <a:pt x="0" y="1842640"/>
                </a:moveTo>
                <a:lnTo>
                  <a:pt x="1671777" y="1842640"/>
                </a:lnTo>
                <a:lnTo>
                  <a:pt x="1671777" y="0"/>
                </a:lnTo>
                <a:lnTo>
                  <a:pt x="0" y="0"/>
                </a:lnTo>
                <a:lnTo>
                  <a:pt x="0" y="184264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47805897-739C-9114-063C-506CA2D97FAC}"/>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26" name="TextBox 26">
            <a:extLst>
              <a:ext uri="{FF2B5EF4-FFF2-40B4-BE49-F238E27FC236}">
                <a16:creationId xmlns:a16="http://schemas.microsoft.com/office/drawing/2014/main" id="{B0EAF7CD-D836-4736-21B7-E01E85A88312}"/>
              </a:ext>
            </a:extLst>
          </p:cNvPr>
          <p:cNvSpPr txBox="1"/>
          <p:nvPr/>
        </p:nvSpPr>
        <p:spPr>
          <a:xfrm>
            <a:off x="8913413" y="3393760"/>
            <a:ext cx="2538268" cy="1356397"/>
          </a:xfrm>
          <a:prstGeom prst="rect">
            <a:avLst/>
          </a:prstGeom>
        </p:spPr>
        <p:txBody>
          <a:bodyPr lIns="0" tIns="0" rIns="0" bIns="0" rtlCol="0" anchor="t">
            <a:spAutoFit/>
          </a:bodyPr>
          <a:lstStyle/>
          <a:p>
            <a:pPr>
              <a:lnSpc>
                <a:spcPts val="2673"/>
              </a:lnSpc>
            </a:pPr>
            <a:r>
              <a:rPr lang="en-US" sz="1713" b="1" dirty="0">
                <a:solidFill>
                  <a:srgbClr val="FFFFFF"/>
                </a:solidFill>
                <a:latin typeface="思源黑体 2 Bold"/>
                <a:ea typeface="思源黑体 2 Bold"/>
                <a:cs typeface="思源黑体 2 Bold"/>
                <a:sym typeface="思源黑体 2 Bold"/>
              </a:rPr>
              <a:t>prepare for </a:t>
            </a:r>
          </a:p>
          <a:p>
            <a:pPr>
              <a:lnSpc>
                <a:spcPts val="2673"/>
              </a:lnSpc>
            </a:pPr>
            <a:r>
              <a:rPr lang="en-US" sz="1713" b="1" dirty="0">
                <a:solidFill>
                  <a:srgbClr val="FFFFFF"/>
                </a:solidFill>
                <a:latin typeface="思源黑体 2 Bold"/>
                <a:ea typeface="思源黑体 2 Bold"/>
                <a:cs typeface="思源黑体 2 Bold"/>
                <a:sym typeface="思源黑体 2 Bold"/>
              </a:rPr>
              <a:t>direct employment</a:t>
            </a:r>
          </a:p>
          <a:p>
            <a:pPr>
              <a:lnSpc>
                <a:spcPts val="2673"/>
              </a:lnSpc>
            </a:pPr>
            <a:endParaRPr lang="en-US" sz="1713" b="1" dirty="0">
              <a:solidFill>
                <a:srgbClr val="FFFFFF"/>
              </a:solidFill>
              <a:latin typeface="思源黑体 2 Bold"/>
              <a:ea typeface="思源黑体 2 Bold"/>
              <a:cs typeface="思源黑体 2 Bold"/>
              <a:sym typeface="思源黑体 2 Bold"/>
            </a:endParaRPr>
          </a:p>
          <a:p>
            <a:pPr>
              <a:lnSpc>
                <a:spcPts val="2673"/>
              </a:lnSpc>
            </a:pPr>
            <a:endParaRPr lang="en-US" sz="1713" b="1" dirty="0">
              <a:solidFill>
                <a:srgbClr val="FFFFFF"/>
              </a:solidFill>
              <a:latin typeface="思源黑体 2 Bold"/>
              <a:ea typeface="思源黑体 2 Bold"/>
              <a:cs typeface="思源黑体 2 Bold"/>
              <a:sym typeface="思源黑体 2 Bold"/>
            </a:endParaRPr>
          </a:p>
        </p:txBody>
      </p:sp>
      <p:sp>
        <p:nvSpPr>
          <p:cNvPr id="30" name="TextBox 5">
            <a:extLst>
              <a:ext uri="{FF2B5EF4-FFF2-40B4-BE49-F238E27FC236}">
                <a16:creationId xmlns:a16="http://schemas.microsoft.com/office/drawing/2014/main" id="{AD97914D-7B14-E477-CBE0-0AEA6C8EDB59}"/>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6A7B5CFE-B13E-A04C-05B5-93C557C3298C}"/>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pic>
        <p:nvPicPr>
          <p:cNvPr id="21" name="图片 20">
            <a:extLst>
              <a:ext uri="{FF2B5EF4-FFF2-40B4-BE49-F238E27FC236}">
                <a16:creationId xmlns:a16="http://schemas.microsoft.com/office/drawing/2014/main" id="{DCBFB3F7-9BDE-100F-F833-1FAA4564389E}"/>
              </a:ext>
            </a:extLst>
          </p:cNvPr>
          <p:cNvPicPr>
            <a:picLocks noChangeAspect="1"/>
          </p:cNvPicPr>
          <p:nvPr/>
        </p:nvPicPr>
        <p:blipFill>
          <a:blip r:embed="rId7"/>
          <a:stretch>
            <a:fillRect/>
          </a:stretch>
        </p:blipFill>
        <p:spPr>
          <a:xfrm>
            <a:off x="647869" y="1117682"/>
            <a:ext cx="5078017" cy="3445377"/>
          </a:xfrm>
          <a:prstGeom prst="rect">
            <a:avLst/>
          </a:prstGeom>
        </p:spPr>
      </p:pic>
      <p:pic>
        <p:nvPicPr>
          <p:cNvPr id="22" name="图片 21">
            <a:extLst>
              <a:ext uri="{FF2B5EF4-FFF2-40B4-BE49-F238E27FC236}">
                <a16:creationId xmlns:a16="http://schemas.microsoft.com/office/drawing/2014/main" id="{F1C914A0-BB4D-4156-FB37-F95A750C2880}"/>
              </a:ext>
            </a:extLst>
          </p:cNvPr>
          <p:cNvPicPr>
            <a:picLocks noChangeAspect="1"/>
          </p:cNvPicPr>
          <p:nvPr/>
        </p:nvPicPr>
        <p:blipFill>
          <a:blip r:embed="rId8"/>
          <a:stretch>
            <a:fillRect/>
          </a:stretch>
        </p:blipFill>
        <p:spPr>
          <a:xfrm>
            <a:off x="5935351" y="1120543"/>
            <a:ext cx="5516330" cy="3449321"/>
          </a:xfrm>
          <a:prstGeom prst="rect">
            <a:avLst/>
          </a:prstGeom>
        </p:spPr>
      </p:pic>
      <p:sp>
        <p:nvSpPr>
          <p:cNvPr id="23" name="文本框 22">
            <a:extLst>
              <a:ext uri="{FF2B5EF4-FFF2-40B4-BE49-F238E27FC236}">
                <a16:creationId xmlns:a16="http://schemas.microsoft.com/office/drawing/2014/main" id="{7CCCE150-DEE0-EEF5-7A5E-2F94E3B6347E}"/>
              </a:ext>
            </a:extLst>
          </p:cNvPr>
          <p:cNvSpPr txBox="1"/>
          <p:nvPr/>
        </p:nvSpPr>
        <p:spPr>
          <a:xfrm>
            <a:off x="1386076" y="4825293"/>
            <a:ext cx="8679620" cy="553998"/>
          </a:xfrm>
          <a:prstGeom prst="rect">
            <a:avLst/>
          </a:prstGeom>
          <a:noFill/>
        </p:spPr>
        <p:txBody>
          <a:bodyPr wrap="none" rtlCol="0">
            <a:spAutoFit/>
          </a:bodyPr>
          <a:lstStyle/>
          <a:p>
            <a:r>
              <a:rPr lang="en-US" altLang="zh-CN" sz="1500" dirty="0">
                <a:latin typeface="Times New Roman" panose="02020603050405020304" pitchFamily="18" charset="0"/>
                <a:cs typeface="Times New Roman" panose="02020603050405020304" pitchFamily="18" charset="0"/>
              </a:rPr>
              <a:t>I introduced a wide range of graduate programs to help students gain a better understanding of their options.</a:t>
            </a:r>
          </a:p>
          <a:p>
            <a:endParaRPr kumimoji="1" lang="zh-CN" altLang="en-US" sz="1500" dirty="0">
              <a:latin typeface="Times New Roman" panose="02020603050405020304" pitchFamily="18" charset="0"/>
              <a:cs typeface="Times New Roman" panose="02020603050405020304" pitchFamily="18" charset="0"/>
            </a:endParaRPr>
          </a:p>
        </p:txBody>
      </p:sp>
      <p:sp>
        <p:nvSpPr>
          <p:cNvPr id="24" name="文本框 23">
            <a:extLst>
              <a:ext uri="{FF2B5EF4-FFF2-40B4-BE49-F238E27FC236}">
                <a16:creationId xmlns:a16="http://schemas.microsoft.com/office/drawing/2014/main" id="{309D1F6A-6BA9-9B89-CCD0-15F165515B8B}"/>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2 – Design </a:t>
            </a:r>
            <a:r>
              <a:rPr kumimoji="1" lang="en-US" altLang="zh-CN" sz="2400" dirty="0">
                <a:latin typeface="Times New Roman" panose="02020603050405020304" pitchFamily="18" charset="0"/>
                <a:cs typeface="Times New Roman" panose="02020603050405020304" pitchFamily="18" charset="0"/>
              </a:rPr>
              <a:t>and develop </a:t>
            </a:r>
            <a:r>
              <a:rPr kumimoji="1" lang="en-US" altLang="zh-CN" sz="2300" dirty="0">
                <a:solidFill>
                  <a:srgbClr val="FF0000"/>
                </a:solidFill>
                <a:latin typeface="Times New Roman" panose="02020603050405020304" pitchFamily="18" charset="0"/>
                <a:cs typeface="Times New Roman" panose="02020603050405020304" pitchFamily="18" charset="0"/>
              </a:rPr>
              <a:t>Master’s</a:t>
            </a:r>
            <a:r>
              <a:rPr kumimoji="1" lang="en-US" altLang="zh-CN" sz="2300" dirty="0">
                <a:latin typeface="Times New Roman" panose="02020603050405020304" pitchFamily="18" charset="0"/>
                <a:cs typeface="Times New Roman" panose="02020603050405020304" pitchFamily="18" charset="0"/>
              </a:rPr>
              <a:t> page</a:t>
            </a:r>
          </a:p>
        </p:txBody>
      </p:sp>
      <p:sp>
        <p:nvSpPr>
          <p:cNvPr id="25" name="TextBox 6">
            <a:extLst>
              <a:ext uri="{FF2B5EF4-FFF2-40B4-BE49-F238E27FC236}">
                <a16:creationId xmlns:a16="http://schemas.microsoft.com/office/drawing/2014/main" id="{C0737269-0A4B-34AC-2E9E-E2EDCFF40BF7}"/>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1100667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B7A3A-24FF-8560-0EA6-D93722F35776}"/>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2AC9D054-2964-14D8-CAB2-CADF5B5B5C21}"/>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200DC615-BF89-3EF3-A912-0C62AFCB2D8B}"/>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26" name="TextBox 26">
            <a:extLst>
              <a:ext uri="{FF2B5EF4-FFF2-40B4-BE49-F238E27FC236}">
                <a16:creationId xmlns:a16="http://schemas.microsoft.com/office/drawing/2014/main" id="{FE354A21-0BD3-FA59-03CD-62AAF81DCF7F}"/>
              </a:ext>
            </a:extLst>
          </p:cNvPr>
          <p:cNvSpPr txBox="1"/>
          <p:nvPr/>
        </p:nvSpPr>
        <p:spPr>
          <a:xfrm>
            <a:off x="8913413" y="3393760"/>
            <a:ext cx="2538268" cy="1356397"/>
          </a:xfrm>
          <a:prstGeom prst="rect">
            <a:avLst/>
          </a:prstGeom>
        </p:spPr>
        <p:txBody>
          <a:bodyPr lIns="0" tIns="0" rIns="0" bIns="0" rtlCol="0" anchor="t">
            <a:spAutoFit/>
          </a:bodyPr>
          <a:lstStyle/>
          <a:p>
            <a:pPr>
              <a:lnSpc>
                <a:spcPts val="2673"/>
              </a:lnSpc>
            </a:pPr>
            <a:r>
              <a:rPr lang="en-US" sz="1713" b="1" dirty="0">
                <a:solidFill>
                  <a:srgbClr val="FFFFFF"/>
                </a:solidFill>
                <a:latin typeface="思源黑体 2 Bold"/>
                <a:ea typeface="思源黑体 2 Bold"/>
                <a:cs typeface="思源黑体 2 Bold"/>
                <a:sym typeface="思源黑体 2 Bold"/>
              </a:rPr>
              <a:t>prepare for </a:t>
            </a:r>
          </a:p>
          <a:p>
            <a:pPr>
              <a:lnSpc>
                <a:spcPts val="2673"/>
              </a:lnSpc>
            </a:pPr>
            <a:r>
              <a:rPr lang="en-US" sz="1713" b="1" dirty="0">
                <a:solidFill>
                  <a:srgbClr val="FFFFFF"/>
                </a:solidFill>
                <a:latin typeface="思源黑体 2 Bold"/>
                <a:ea typeface="思源黑体 2 Bold"/>
                <a:cs typeface="思源黑体 2 Bold"/>
                <a:sym typeface="思源黑体 2 Bold"/>
              </a:rPr>
              <a:t>direct employment</a:t>
            </a:r>
          </a:p>
          <a:p>
            <a:pPr>
              <a:lnSpc>
                <a:spcPts val="2673"/>
              </a:lnSpc>
            </a:pPr>
            <a:endParaRPr lang="en-US" sz="1713" b="1" dirty="0">
              <a:solidFill>
                <a:srgbClr val="FFFFFF"/>
              </a:solidFill>
              <a:latin typeface="思源黑体 2 Bold"/>
              <a:ea typeface="思源黑体 2 Bold"/>
              <a:cs typeface="思源黑体 2 Bold"/>
              <a:sym typeface="思源黑体 2 Bold"/>
            </a:endParaRPr>
          </a:p>
          <a:p>
            <a:pPr>
              <a:lnSpc>
                <a:spcPts val="2673"/>
              </a:lnSpc>
            </a:pPr>
            <a:endParaRPr lang="en-US" sz="1713" b="1" dirty="0">
              <a:solidFill>
                <a:srgbClr val="FFFFFF"/>
              </a:solidFill>
              <a:latin typeface="思源黑体 2 Bold"/>
              <a:ea typeface="思源黑体 2 Bold"/>
              <a:cs typeface="思源黑体 2 Bold"/>
              <a:sym typeface="思源黑体 2 Bold"/>
            </a:endParaRPr>
          </a:p>
        </p:txBody>
      </p:sp>
      <p:sp>
        <p:nvSpPr>
          <p:cNvPr id="30" name="TextBox 5">
            <a:extLst>
              <a:ext uri="{FF2B5EF4-FFF2-40B4-BE49-F238E27FC236}">
                <a16:creationId xmlns:a16="http://schemas.microsoft.com/office/drawing/2014/main" id="{EC3F7145-F0E1-104B-1464-A42AAB468636}"/>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E71FB9E1-301A-F765-6C0F-6A0148A1FF7D}"/>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pic>
        <p:nvPicPr>
          <p:cNvPr id="2" name="图片 1">
            <a:extLst>
              <a:ext uri="{FF2B5EF4-FFF2-40B4-BE49-F238E27FC236}">
                <a16:creationId xmlns:a16="http://schemas.microsoft.com/office/drawing/2014/main" id="{3F29D2CA-7EA2-A2E1-7601-A71EDA8B41F2}"/>
              </a:ext>
            </a:extLst>
          </p:cNvPr>
          <p:cNvPicPr>
            <a:picLocks noChangeAspect="1"/>
          </p:cNvPicPr>
          <p:nvPr/>
        </p:nvPicPr>
        <p:blipFill>
          <a:blip r:embed="rId5"/>
          <a:stretch>
            <a:fillRect/>
          </a:stretch>
        </p:blipFill>
        <p:spPr>
          <a:xfrm>
            <a:off x="631371" y="1314051"/>
            <a:ext cx="7772400" cy="1929490"/>
          </a:xfrm>
          <a:prstGeom prst="rect">
            <a:avLst/>
          </a:prstGeom>
        </p:spPr>
      </p:pic>
      <p:sp>
        <p:nvSpPr>
          <p:cNvPr id="4" name="文本框 3">
            <a:extLst>
              <a:ext uri="{FF2B5EF4-FFF2-40B4-BE49-F238E27FC236}">
                <a16:creationId xmlns:a16="http://schemas.microsoft.com/office/drawing/2014/main" id="{1C3DE48C-E59E-C56E-F0DB-970D7362B800}"/>
              </a:ext>
            </a:extLst>
          </p:cNvPr>
          <p:cNvSpPr txBox="1"/>
          <p:nvPr/>
        </p:nvSpPr>
        <p:spPr>
          <a:xfrm>
            <a:off x="1626542" y="3429000"/>
            <a:ext cx="6096000" cy="553998"/>
          </a:xfrm>
          <a:prstGeom prst="rect">
            <a:avLst/>
          </a:prstGeom>
          <a:noFill/>
        </p:spPr>
        <p:txBody>
          <a:bodyPr wrap="square">
            <a:spAutoFit/>
          </a:bodyPr>
          <a:lstStyle/>
          <a:p>
            <a:pPr>
              <a:buNone/>
            </a:pPr>
            <a:r>
              <a:rPr lang="en-US" altLang="zh-CN" sz="1500" dirty="0">
                <a:latin typeface="Times New Roman" panose="02020603050405020304" pitchFamily="18" charset="0"/>
                <a:cs typeface="Times New Roman" panose="02020603050405020304" pitchFamily="18" charset="0"/>
              </a:rPr>
              <a:t>Users can search by keywords, or filter programs based on region and level of application difficulty.</a:t>
            </a:r>
          </a:p>
        </p:txBody>
      </p:sp>
      <p:sp>
        <p:nvSpPr>
          <p:cNvPr id="5" name="文本框 4">
            <a:extLst>
              <a:ext uri="{FF2B5EF4-FFF2-40B4-BE49-F238E27FC236}">
                <a16:creationId xmlns:a16="http://schemas.microsoft.com/office/drawing/2014/main" id="{E0705B85-1995-3855-A8A1-BFF58EEBAF44}"/>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2 – Design </a:t>
            </a:r>
            <a:r>
              <a:rPr kumimoji="1" lang="en-US" altLang="zh-CN" sz="2400" dirty="0">
                <a:latin typeface="Times New Roman" panose="02020603050405020304" pitchFamily="18" charset="0"/>
                <a:cs typeface="Times New Roman" panose="02020603050405020304" pitchFamily="18" charset="0"/>
              </a:rPr>
              <a:t>and develop </a:t>
            </a:r>
            <a:r>
              <a:rPr kumimoji="1" lang="en-US" altLang="zh-CN" sz="2300" dirty="0">
                <a:solidFill>
                  <a:srgbClr val="FF0000"/>
                </a:solidFill>
                <a:latin typeface="Times New Roman" panose="02020603050405020304" pitchFamily="18" charset="0"/>
                <a:cs typeface="Times New Roman" panose="02020603050405020304" pitchFamily="18" charset="0"/>
              </a:rPr>
              <a:t>Master’s</a:t>
            </a:r>
            <a:r>
              <a:rPr kumimoji="1" lang="en-US" altLang="zh-CN" sz="2300" dirty="0">
                <a:latin typeface="Times New Roman" panose="02020603050405020304" pitchFamily="18" charset="0"/>
                <a:cs typeface="Times New Roman" panose="02020603050405020304" pitchFamily="18" charset="0"/>
              </a:rPr>
              <a:t> page</a:t>
            </a:r>
          </a:p>
        </p:txBody>
      </p:sp>
      <p:sp>
        <p:nvSpPr>
          <p:cNvPr id="6" name="TextBox 6">
            <a:extLst>
              <a:ext uri="{FF2B5EF4-FFF2-40B4-BE49-F238E27FC236}">
                <a16:creationId xmlns:a16="http://schemas.microsoft.com/office/drawing/2014/main" id="{55F3023E-CBA0-FC15-050E-A47CF2887967}"/>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2667335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E832A-A6D0-7DC3-D4D4-0C033EA57390}"/>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6B94D789-8ADE-CC54-E703-6572926BCFF3}"/>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0" name="Freeform 10">
            <a:extLst>
              <a:ext uri="{FF2B5EF4-FFF2-40B4-BE49-F238E27FC236}">
                <a16:creationId xmlns:a16="http://schemas.microsoft.com/office/drawing/2014/main" id="{0146AF9B-3693-DBD8-53F5-930F419C5DCB}"/>
              </a:ext>
            </a:extLst>
          </p:cNvPr>
          <p:cNvSpPr/>
          <p:nvPr/>
        </p:nvSpPr>
        <p:spPr>
          <a:xfrm rot="-7750267" flipV="1">
            <a:off x="270904" y="2259895"/>
            <a:ext cx="1114518" cy="1228427"/>
          </a:xfrm>
          <a:custGeom>
            <a:avLst/>
            <a:gdLst/>
            <a:ahLst/>
            <a:cxnLst/>
            <a:rect l="l" t="t" r="r" b="b"/>
            <a:pathLst>
              <a:path w="1671777" h="1842640">
                <a:moveTo>
                  <a:pt x="0" y="1842640"/>
                </a:moveTo>
                <a:lnTo>
                  <a:pt x="1671777" y="1842640"/>
                </a:lnTo>
                <a:lnTo>
                  <a:pt x="1671777" y="0"/>
                </a:lnTo>
                <a:lnTo>
                  <a:pt x="0" y="0"/>
                </a:lnTo>
                <a:lnTo>
                  <a:pt x="0" y="184264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4375B78D-AB15-7EC3-5EA8-27DF47B50AAB}"/>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26" name="TextBox 26">
            <a:extLst>
              <a:ext uri="{FF2B5EF4-FFF2-40B4-BE49-F238E27FC236}">
                <a16:creationId xmlns:a16="http://schemas.microsoft.com/office/drawing/2014/main" id="{E2A5A8BF-C5AA-9D61-2F70-8BA8E95096DC}"/>
              </a:ext>
            </a:extLst>
          </p:cNvPr>
          <p:cNvSpPr txBox="1"/>
          <p:nvPr/>
        </p:nvSpPr>
        <p:spPr>
          <a:xfrm>
            <a:off x="8913413" y="3393760"/>
            <a:ext cx="2538268" cy="1356397"/>
          </a:xfrm>
          <a:prstGeom prst="rect">
            <a:avLst/>
          </a:prstGeom>
        </p:spPr>
        <p:txBody>
          <a:bodyPr lIns="0" tIns="0" rIns="0" bIns="0" rtlCol="0" anchor="t">
            <a:spAutoFit/>
          </a:bodyPr>
          <a:lstStyle/>
          <a:p>
            <a:pPr>
              <a:lnSpc>
                <a:spcPts val="2673"/>
              </a:lnSpc>
            </a:pPr>
            <a:r>
              <a:rPr lang="en-US" sz="1713" b="1" dirty="0">
                <a:solidFill>
                  <a:srgbClr val="FFFFFF"/>
                </a:solidFill>
                <a:latin typeface="思源黑体 2 Bold"/>
                <a:ea typeface="思源黑体 2 Bold"/>
                <a:cs typeface="思源黑体 2 Bold"/>
                <a:sym typeface="思源黑体 2 Bold"/>
              </a:rPr>
              <a:t>prepare for </a:t>
            </a:r>
          </a:p>
          <a:p>
            <a:pPr>
              <a:lnSpc>
                <a:spcPts val="2673"/>
              </a:lnSpc>
            </a:pPr>
            <a:r>
              <a:rPr lang="en-US" sz="1713" b="1" dirty="0">
                <a:solidFill>
                  <a:srgbClr val="FFFFFF"/>
                </a:solidFill>
                <a:latin typeface="思源黑体 2 Bold"/>
                <a:ea typeface="思源黑体 2 Bold"/>
                <a:cs typeface="思源黑体 2 Bold"/>
                <a:sym typeface="思源黑体 2 Bold"/>
              </a:rPr>
              <a:t>direct employment</a:t>
            </a:r>
          </a:p>
          <a:p>
            <a:pPr>
              <a:lnSpc>
                <a:spcPts val="2673"/>
              </a:lnSpc>
            </a:pPr>
            <a:endParaRPr lang="en-US" sz="1713" b="1" dirty="0">
              <a:solidFill>
                <a:srgbClr val="FFFFFF"/>
              </a:solidFill>
              <a:latin typeface="思源黑体 2 Bold"/>
              <a:ea typeface="思源黑体 2 Bold"/>
              <a:cs typeface="思源黑体 2 Bold"/>
              <a:sym typeface="思源黑体 2 Bold"/>
            </a:endParaRPr>
          </a:p>
          <a:p>
            <a:pPr>
              <a:lnSpc>
                <a:spcPts val="2673"/>
              </a:lnSpc>
            </a:pPr>
            <a:endParaRPr lang="en-US" sz="1713" b="1" dirty="0">
              <a:solidFill>
                <a:srgbClr val="FFFFFF"/>
              </a:solidFill>
              <a:latin typeface="思源黑体 2 Bold"/>
              <a:ea typeface="思源黑体 2 Bold"/>
              <a:cs typeface="思源黑体 2 Bold"/>
              <a:sym typeface="思源黑体 2 Bold"/>
            </a:endParaRPr>
          </a:p>
        </p:txBody>
      </p:sp>
      <p:sp>
        <p:nvSpPr>
          <p:cNvPr id="30" name="TextBox 5">
            <a:extLst>
              <a:ext uri="{FF2B5EF4-FFF2-40B4-BE49-F238E27FC236}">
                <a16:creationId xmlns:a16="http://schemas.microsoft.com/office/drawing/2014/main" id="{BBDC7DD7-1136-7FDA-5091-834FA68F9717}"/>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8EE7C054-89E0-6D84-F70D-E04023FCB19B}"/>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pic>
        <p:nvPicPr>
          <p:cNvPr id="2" name="图片 1">
            <a:extLst>
              <a:ext uri="{FF2B5EF4-FFF2-40B4-BE49-F238E27FC236}">
                <a16:creationId xmlns:a16="http://schemas.microsoft.com/office/drawing/2014/main" id="{AF26FB62-EEB1-1BDB-8193-D576DD07602E}"/>
              </a:ext>
            </a:extLst>
          </p:cNvPr>
          <p:cNvPicPr>
            <a:picLocks noChangeAspect="1"/>
          </p:cNvPicPr>
          <p:nvPr/>
        </p:nvPicPr>
        <p:blipFill>
          <a:blip r:embed="rId7"/>
          <a:stretch>
            <a:fillRect/>
          </a:stretch>
        </p:blipFill>
        <p:spPr>
          <a:xfrm>
            <a:off x="737464" y="1117682"/>
            <a:ext cx="5641565" cy="3207251"/>
          </a:xfrm>
          <a:prstGeom prst="rect">
            <a:avLst/>
          </a:prstGeom>
        </p:spPr>
      </p:pic>
      <p:sp>
        <p:nvSpPr>
          <p:cNvPr id="3" name="矩形 2">
            <a:extLst>
              <a:ext uri="{FF2B5EF4-FFF2-40B4-BE49-F238E27FC236}">
                <a16:creationId xmlns:a16="http://schemas.microsoft.com/office/drawing/2014/main" id="{2A799D81-1C19-C94E-8A4E-A3B4F64AAF91}"/>
              </a:ext>
            </a:extLst>
          </p:cNvPr>
          <p:cNvSpPr/>
          <p:nvPr/>
        </p:nvSpPr>
        <p:spPr>
          <a:xfrm>
            <a:off x="5009818" y="2476178"/>
            <a:ext cx="1086182" cy="16294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 name="图片 3">
            <a:extLst>
              <a:ext uri="{FF2B5EF4-FFF2-40B4-BE49-F238E27FC236}">
                <a16:creationId xmlns:a16="http://schemas.microsoft.com/office/drawing/2014/main" id="{5A5B6729-8DF3-7C0E-3284-66A597BDB909}"/>
              </a:ext>
            </a:extLst>
          </p:cNvPr>
          <p:cNvPicPr>
            <a:picLocks noChangeAspect="1"/>
          </p:cNvPicPr>
          <p:nvPr/>
        </p:nvPicPr>
        <p:blipFill>
          <a:blip r:embed="rId8"/>
          <a:stretch>
            <a:fillRect/>
          </a:stretch>
        </p:blipFill>
        <p:spPr>
          <a:xfrm>
            <a:off x="6510218" y="2553548"/>
            <a:ext cx="5439102" cy="3073328"/>
          </a:xfrm>
          <a:prstGeom prst="rect">
            <a:avLst/>
          </a:prstGeom>
        </p:spPr>
      </p:pic>
      <p:sp>
        <p:nvSpPr>
          <p:cNvPr id="5" name="文本框 4">
            <a:extLst>
              <a:ext uri="{FF2B5EF4-FFF2-40B4-BE49-F238E27FC236}">
                <a16:creationId xmlns:a16="http://schemas.microsoft.com/office/drawing/2014/main" id="{1AC91B84-8DDF-C814-9D2B-6E3D154AC261}"/>
              </a:ext>
            </a:extLst>
          </p:cNvPr>
          <p:cNvSpPr txBox="1"/>
          <p:nvPr/>
        </p:nvSpPr>
        <p:spPr>
          <a:xfrm>
            <a:off x="828163" y="4660007"/>
            <a:ext cx="5332210" cy="1015663"/>
          </a:xfrm>
          <a:prstGeom prst="rect">
            <a:avLst/>
          </a:prstGeom>
          <a:noFill/>
        </p:spPr>
        <p:txBody>
          <a:bodyPr wrap="square" rtlCol="0">
            <a:spAutoFit/>
          </a:bodyPr>
          <a:lstStyle/>
          <a:p>
            <a:r>
              <a:rPr lang="en-US" altLang="zh-CN" sz="1500" dirty="0">
                <a:latin typeface="Times New Roman" panose="02020603050405020304" pitchFamily="18" charset="0"/>
                <a:cs typeface="Times New Roman" panose="02020603050405020304" pitchFamily="18" charset="0"/>
              </a:rPr>
              <a:t>We also provide direct links: by clicking the buttons, users can navigate to the corresponding graduate programs at each university for more detailed information.</a:t>
            </a:r>
          </a:p>
          <a:p>
            <a:endParaRPr kumimoji="1" lang="zh-CN" altLang="en-US" sz="15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9763F97D-60CE-319A-E4CD-E8F40500F433}"/>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2 – Design </a:t>
            </a:r>
            <a:r>
              <a:rPr kumimoji="1" lang="en-US" altLang="zh-CN" sz="2400" dirty="0">
                <a:latin typeface="Times New Roman" panose="02020603050405020304" pitchFamily="18" charset="0"/>
                <a:cs typeface="Times New Roman" panose="02020603050405020304" pitchFamily="18" charset="0"/>
              </a:rPr>
              <a:t>and develop </a:t>
            </a:r>
            <a:r>
              <a:rPr kumimoji="1" lang="en-US" altLang="zh-CN" sz="2300" dirty="0">
                <a:solidFill>
                  <a:srgbClr val="FF0000"/>
                </a:solidFill>
                <a:latin typeface="Times New Roman" panose="02020603050405020304" pitchFamily="18" charset="0"/>
                <a:cs typeface="Times New Roman" panose="02020603050405020304" pitchFamily="18" charset="0"/>
              </a:rPr>
              <a:t>Master’s</a:t>
            </a:r>
            <a:r>
              <a:rPr kumimoji="1" lang="en-US" altLang="zh-CN" sz="2300" dirty="0">
                <a:latin typeface="Times New Roman" panose="02020603050405020304" pitchFamily="18" charset="0"/>
                <a:cs typeface="Times New Roman" panose="02020603050405020304" pitchFamily="18" charset="0"/>
              </a:rPr>
              <a:t> page</a:t>
            </a:r>
          </a:p>
        </p:txBody>
      </p:sp>
      <p:sp>
        <p:nvSpPr>
          <p:cNvPr id="7" name="TextBox 6">
            <a:extLst>
              <a:ext uri="{FF2B5EF4-FFF2-40B4-BE49-F238E27FC236}">
                <a16:creationId xmlns:a16="http://schemas.microsoft.com/office/drawing/2014/main" id="{49B2BBCE-58CF-E5A0-B008-9114D7500D06}"/>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1173773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11936-5E45-A60A-DB08-AA1A300707BF}"/>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B1D3E8AF-71D6-E914-7965-3AACFFCB6C9A}"/>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0" name="Freeform 10">
            <a:extLst>
              <a:ext uri="{FF2B5EF4-FFF2-40B4-BE49-F238E27FC236}">
                <a16:creationId xmlns:a16="http://schemas.microsoft.com/office/drawing/2014/main" id="{4E6017B9-5B48-02D7-9651-C7C55CD8FCEF}"/>
              </a:ext>
            </a:extLst>
          </p:cNvPr>
          <p:cNvSpPr/>
          <p:nvPr/>
        </p:nvSpPr>
        <p:spPr>
          <a:xfrm rot="-7750267" flipV="1">
            <a:off x="270904" y="2259895"/>
            <a:ext cx="1114518" cy="1228427"/>
          </a:xfrm>
          <a:custGeom>
            <a:avLst/>
            <a:gdLst/>
            <a:ahLst/>
            <a:cxnLst/>
            <a:rect l="l" t="t" r="r" b="b"/>
            <a:pathLst>
              <a:path w="1671777" h="1842640">
                <a:moveTo>
                  <a:pt x="0" y="1842640"/>
                </a:moveTo>
                <a:lnTo>
                  <a:pt x="1671777" y="1842640"/>
                </a:lnTo>
                <a:lnTo>
                  <a:pt x="1671777" y="0"/>
                </a:lnTo>
                <a:lnTo>
                  <a:pt x="0" y="0"/>
                </a:lnTo>
                <a:lnTo>
                  <a:pt x="0" y="184264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88FD71EB-8C61-298A-FD45-84B092D9A792}"/>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26" name="TextBox 26">
            <a:extLst>
              <a:ext uri="{FF2B5EF4-FFF2-40B4-BE49-F238E27FC236}">
                <a16:creationId xmlns:a16="http://schemas.microsoft.com/office/drawing/2014/main" id="{AB1032E4-0BFF-18AD-5C23-8BBBC604ED1B}"/>
              </a:ext>
            </a:extLst>
          </p:cNvPr>
          <p:cNvSpPr txBox="1"/>
          <p:nvPr/>
        </p:nvSpPr>
        <p:spPr>
          <a:xfrm>
            <a:off x="8913413" y="3393760"/>
            <a:ext cx="2538268" cy="1356397"/>
          </a:xfrm>
          <a:prstGeom prst="rect">
            <a:avLst/>
          </a:prstGeom>
        </p:spPr>
        <p:txBody>
          <a:bodyPr lIns="0" tIns="0" rIns="0" bIns="0" rtlCol="0" anchor="t">
            <a:spAutoFit/>
          </a:bodyPr>
          <a:lstStyle/>
          <a:p>
            <a:pPr>
              <a:lnSpc>
                <a:spcPts val="2673"/>
              </a:lnSpc>
            </a:pPr>
            <a:r>
              <a:rPr lang="en-US" sz="1713" b="1" dirty="0">
                <a:solidFill>
                  <a:srgbClr val="FFFFFF"/>
                </a:solidFill>
                <a:latin typeface="思源黑体 2 Bold"/>
                <a:ea typeface="思源黑体 2 Bold"/>
                <a:cs typeface="思源黑体 2 Bold"/>
                <a:sym typeface="思源黑体 2 Bold"/>
              </a:rPr>
              <a:t>prepare for </a:t>
            </a:r>
          </a:p>
          <a:p>
            <a:pPr>
              <a:lnSpc>
                <a:spcPts val="2673"/>
              </a:lnSpc>
            </a:pPr>
            <a:r>
              <a:rPr lang="en-US" sz="1713" b="1" dirty="0">
                <a:solidFill>
                  <a:srgbClr val="FFFFFF"/>
                </a:solidFill>
                <a:latin typeface="思源黑体 2 Bold"/>
                <a:ea typeface="思源黑体 2 Bold"/>
                <a:cs typeface="思源黑体 2 Bold"/>
                <a:sym typeface="思源黑体 2 Bold"/>
              </a:rPr>
              <a:t>direct employment</a:t>
            </a:r>
          </a:p>
          <a:p>
            <a:pPr>
              <a:lnSpc>
                <a:spcPts val="2673"/>
              </a:lnSpc>
            </a:pPr>
            <a:endParaRPr lang="en-US" sz="1713" b="1" dirty="0">
              <a:solidFill>
                <a:srgbClr val="FFFFFF"/>
              </a:solidFill>
              <a:latin typeface="思源黑体 2 Bold"/>
              <a:ea typeface="思源黑体 2 Bold"/>
              <a:cs typeface="思源黑体 2 Bold"/>
              <a:sym typeface="思源黑体 2 Bold"/>
            </a:endParaRPr>
          </a:p>
          <a:p>
            <a:pPr>
              <a:lnSpc>
                <a:spcPts val="2673"/>
              </a:lnSpc>
            </a:pPr>
            <a:endParaRPr lang="en-US" sz="1713" b="1" dirty="0">
              <a:solidFill>
                <a:srgbClr val="FFFFFF"/>
              </a:solidFill>
              <a:latin typeface="思源黑体 2 Bold"/>
              <a:ea typeface="思源黑体 2 Bold"/>
              <a:cs typeface="思源黑体 2 Bold"/>
              <a:sym typeface="思源黑体 2 Bold"/>
            </a:endParaRPr>
          </a:p>
        </p:txBody>
      </p:sp>
      <p:sp>
        <p:nvSpPr>
          <p:cNvPr id="30" name="TextBox 5">
            <a:extLst>
              <a:ext uri="{FF2B5EF4-FFF2-40B4-BE49-F238E27FC236}">
                <a16:creationId xmlns:a16="http://schemas.microsoft.com/office/drawing/2014/main" id="{538B70E5-9872-7CBB-4241-639D2DB80E55}"/>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93991CC0-2932-9920-E96F-34D06068D225}"/>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pic>
        <p:nvPicPr>
          <p:cNvPr id="2" name="图片 1">
            <a:extLst>
              <a:ext uri="{FF2B5EF4-FFF2-40B4-BE49-F238E27FC236}">
                <a16:creationId xmlns:a16="http://schemas.microsoft.com/office/drawing/2014/main" id="{3204C8E0-F1F1-083A-2D37-98F96828B6B4}"/>
              </a:ext>
            </a:extLst>
          </p:cNvPr>
          <p:cNvPicPr>
            <a:picLocks noChangeAspect="1"/>
          </p:cNvPicPr>
          <p:nvPr/>
        </p:nvPicPr>
        <p:blipFill>
          <a:blip r:embed="rId7"/>
          <a:stretch>
            <a:fillRect/>
          </a:stretch>
        </p:blipFill>
        <p:spPr>
          <a:xfrm>
            <a:off x="471283" y="1025607"/>
            <a:ext cx="7772400" cy="4953721"/>
          </a:xfrm>
          <a:prstGeom prst="rect">
            <a:avLst/>
          </a:prstGeom>
        </p:spPr>
      </p:pic>
      <p:sp>
        <p:nvSpPr>
          <p:cNvPr id="3" name="文本框 2">
            <a:extLst>
              <a:ext uri="{FF2B5EF4-FFF2-40B4-BE49-F238E27FC236}">
                <a16:creationId xmlns:a16="http://schemas.microsoft.com/office/drawing/2014/main" id="{C40D4EC2-86E3-FA3A-C9E5-23B9C084989B}"/>
              </a:ext>
            </a:extLst>
          </p:cNvPr>
          <p:cNvSpPr txBox="1"/>
          <p:nvPr/>
        </p:nvSpPr>
        <p:spPr>
          <a:xfrm>
            <a:off x="8243683" y="2100181"/>
            <a:ext cx="3393237" cy="1015663"/>
          </a:xfrm>
          <a:prstGeom prst="rect">
            <a:avLst/>
          </a:prstGeom>
          <a:noFill/>
        </p:spPr>
        <p:txBody>
          <a:bodyPr wrap="square" rtlCol="0">
            <a:spAutoFit/>
          </a:bodyPr>
          <a:lstStyle/>
          <a:p>
            <a:r>
              <a:rPr lang="en-US" altLang="zh-CN" sz="1500" dirty="0">
                <a:latin typeface="Times New Roman" panose="02020603050405020304" pitchFamily="18" charset="0"/>
                <a:cs typeface="Times New Roman" panose="02020603050405020304" pitchFamily="18" charset="0"/>
              </a:rPr>
              <a:t>To help students gain a more detailed understanding of career planning, we designed a Careers page.</a:t>
            </a:r>
          </a:p>
          <a:p>
            <a:endParaRPr kumimoji="1" lang="zh-CN" altLang="en-US" sz="1500"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BFAC4D3B-FE45-5730-FAEA-06521657981E}"/>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2 – Design </a:t>
            </a:r>
            <a:r>
              <a:rPr kumimoji="1" lang="en-US" altLang="zh-CN" sz="2400" dirty="0">
                <a:latin typeface="Times New Roman" panose="02020603050405020304" pitchFamily="18" charset="0"/>
                <a:cs typeface="Times New Roman" panose="02020603050405020304" pitchFamily="18" charset="0"/>
              </a:rPr>
              <a:t>and develop </a:t>
            </a:r>
            <a:r>
              <a:rPr kumimoji="1" lang="en-US" altLang="zh-CN" sz="2300" dirty="0">
                <a:solidFill>
                  <a:srgbClr val="FF0000"/>
                </a:solidFill>
                <a:latin typeface="Times New Roman" panose="02020603050405020304" pitchFamily="18" charset="0"/>
                <a:cs typeface="Times New Roman" panose="02020603050405020304" pitchFamily="18" charset="0"/>
              </a:rPr>
              <a:t>Careers</a:t>
            </a:r>
            <a:r>
              <a:rPr kumimoji="1" lang="en-US" altLang="zh-CN" sz="2300" dirty="0">
                <a:latin typeface="Times New Roman" panose="02020603050405020304" pitchFamily="18" charset="0"/>
                <a:cs typeface="Times New Roman" panose="02020603050405020304" pitchFamily="18" charset="0"/>
              </a:rPr>
              <a:t> page</a:t>
            </a:r>
          </a:p>
        </p:txBody>
      </p:sp>
      <p:sp>
        <p:nvSpPr>
          <p:cNvPr id="6" name="TextBox 6">
            <a:extLst>
              <a:ext uri="{FF2B5EF4-FFF2-40B4-BE49-F238E27FC236}">
                <a16:creationId xmlns:a16="http://schemas.microsoft.com/office/drawing/2014/main" id="{C59507A8-B0D3-D1A1-83CA-E24C3FE5D7DD}"/>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2314687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D48A3-4D60-1AC6-AD4B-0EA35CB94A55}"/>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43BB67F7-48EF-5B24-EA4A-0DD8F01384DD}"/>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0" name="Freeform 10">
            <a:extLst>
              <a:ext uri="{FF2B5EF4-FFF2-40B4-BE49-F238E27FC236}">
                <a16:creationId xmlns:a16="http://schemas.microsoft.com/office/drawing/2014/main" id="{F4EDC3C9-7255-865D-E4B4-ABC4047601A7}"/>
              </a:ext>
            </a:extLst>
          </p:cNvPr>
          <p:cNvSpPr/>
          <p:nvPr/>
        </p:nvSpPr>
        <p:spPr>
          <a:xfrm rot="-7750267" flipV="1">
            <a:off x="270904" y="2259895"/>
            <a:ext cx="1114518" cy="1228427"/>
          </a:xfrm>
          <a:custGeom>
            <a:avLst/>
            <a:gdLst/>
            <a:ahLst/>
            <a:cxnLst/>
            <a:rect l="l" t="t" r="r" b="b"/>
            <a:pathLst>
              <a:path w="1671777" h="1842640">
                <a:moveTo>
                  <a:pt x="0" y="1842640"/>
                </a:moveTo>
                <a:lnTo>
                  <a:pt x="1671777" y="1842640"/>
                </a:lnTo>
                <a:lnTo>
                  <a:pt x="1671777" y="0"/>
                </a:lnTo>
                <a:lnTo>
                  <a:pt x="0" y="0"/>
                </a:lnTo>
                <a:lnTo>
                  <a:pt x="0" y="184264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17592763-9CFC-0AD6-275B-FB0FE0419E21}"/>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26" name="TextBox 26">
            <a:extLst>
              <a:ext uri="{FF2B5EF4-FFF2-40B4-BE49-F238E27FC236}">
                <a16:creationId xmlns:a16="http://schemas.microsoft.com/office/drawing/2014/main" id="{8BE4040F-A2F2-B8E0-993E-6D4B0CBCF0BA}"/>
              </a:ext>
            </a:extLst>
          </p:cNvPr>
          <p:cNvSpPr txBox="1"/>
          <p:nvPr/>
        </p:nvSpPr>
        <p:spPr>
          <a:xfrm>
            <a:off x="8913413" y="3393760"/>
            <a:ext cx="2538268" cy="1356397"/>
          </a:xfrm>
          <a:prstGeom prst="rect">
            <a:avLst/>
          </a:prstGeom>
        </p:spPr>
        <p:txBody>
          <a:bodyPr lIns="0" tIns="0" rIns="0" bIns="0" rtlCol="0" anchor="t">
            <a:spAutoFit/>
          </a:bodyPr>
          <a:lstStyle/>
          <a:p>
            <a:pPr>
              <a:lnSpc>
                <a:spcPts val="2673"/>
              </a:lnSpc>
            </a:pPr>
            <a:r>
              <a:rPr lang="en-US" sz="1713" b="1" dirty="0">
                <a:solidFill>
                  <a:srgbClr val="FFFFFF"/>
                </a:solidFill>
                <a:latin typeface="思源黑体 2 Bold"/>
                <a:ea typeface="思源黑体 2 Bold"/>
                <a:cs typeface="思源黑体 2 Bold"/>
                <a:sym typeface="思源黑体 2 Bold"/>
              </a:rPr>
              <a:t>prepare for </a:t>
            </a:r>
          </a:p>
          <a:p>
            <a:pPr>
              <a:lnSpc>
                <a:spcPts val="2673"/>
              </a:lnSpc>
            </a:pPr>
            <a:r>
              <a:rPr lang="en-US" sz="1713" b="1" dirty="0">
                <a:solidFill>
                  <a:srgbClr val="FFFFFF"/>
                </a:solidFill>
                <a:latin typeface="思源黑体 2 Bold"/>
                <a:ea typeface="思源黑体 2 Bold"/>
                <a:cs typeface="思源黑体 2 Bold"/>
                <a:sym typeface="思源黑体 2 Bold"/>
              </a:rPr>
              <a:t>direct employment</a:t>
            </a:r>
          </a:p>
          <a:p>
            <a:pPr>
              <a:lnSpc>
                <a:spcPts val="2673"/>
              </a:lnSpc>
            </a:pPr>
            <a:endParaRPr lang="en-US" sz="1713" b="1" dirty="0">
              <a:solidFill>
                <a:srgbClr val="FFFFFF"/>
              </a:solidFill>
              <a:latin typeface="思源黑体 2 Bold"/>
              <a:ea typeface="思源黑体 2 Bold"/>
              <a:cs typeface="思源黑体 2 Bold"/>
              <a:sym typeface="思源黑体 2 Bold"/>
            </a:endParaRPr>
          </a:p>
          <a:p>
            <a:pPr>
              <a:lnSpc>
                <a:spcPts val="2673"/>
              </a:lnSpc>
            </a:pPr>
            <a:endParaRPr lang="en-US" sz="1713" b="1" dirty="0">
              <a:solidFill>
                <a:srgbClr val="FFFFFF"/>
              </a:solidFill>
              <a:latin typeface="思源黑体 2 Bold"/>
              <a:ea typeface="思源黑体 2 Bold"/>
              <a:cs typeface="思源黑体 2 Bold"/>
              <a:sym typeface="思源黑体 2 Bold"/>
            </a:endParaRPr>
          </a:p>
        </p:txBody>
      </p:sp>
      <p:sp>
        <p:nvSpPr>
          <p:cNvPr id="30" name="TextBox 5">
            <a:extLst>
              <a:ext uri="{FF2B5EF4-FFF2-40B4-BE49-F238E27FC236}">
                <a16:creationId xmlns:a16="http://schemas.microsoft.com/office/drawing/2014/main" id="{C14423EA-43F5-D99A-E27F-D114F709E391}"/>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A9CC50D4-5C1D-1931-76E1-C4F8BAC9A397}"/>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pic>
        <p:nvPicPr>
          <p:cNvPr id="3" name="图片 2">
            <a:extLst>
              <a:ext uri="{FF2B5EF4-FFF2-40B4-BE49-F238E27FC236}">
                <a16:creationId xmlns:a16="http://schemas.microsoft.com/office/drawing/2014/main" id="{913E7EF3-D68F-51DA-C92E-2FCFDA048868}"/>
              </a:ext>
            </a:extLst>
          </p:cNvPr>
          <p:cNvPicPr>
            <a:picLocks noChangeAspect="1"/>
          </p:cNvPicPr>
          <p:nvPr/>
        </p:nvPicPr>
        <p:blipFill>
          <a:blip r:embed="rId7"/>
          <a:stretch>
            <a:fillRect/>
          </a:stretch>
        </p:blipFill>
        <p:spPr>
          <a:xfrm>
            <a:off x="1459153" y="2891314"/>
            <a:ext cx="8451764" cy="3523217"/>
          </a:xfrm>
          <a:prstGeom prst="rect">
            <a:avLst/>
          </a:prstGeom>
        </p:spPr>
      </p:pic>
      <p:pic>
        <p:nvPicPr>
          <p:cNvPr id="4" name="图片 3">
            <a:extLst>
              <a:ext uri="{FF2B5EF4-FFF2-40B4-BE49-F238E27FC236}">
                <a16:creationId xmlns:a16="http://schemas.microsoft.com/office/drawing/2014/main" id="{8FD1B2C0-AEE2-B844-EB4A-4A53344EC72F}"/>
              </a:ext>
            </a:extLst>
          </p:cNvPr>
          <p:cNvPicPr>
            <a:picLocks noChangeAspect="1"/>
          </p:cNvPicPr>
          <p:nvPr/>
        </p:nvPicPr>
        <p:blipFill>
          <a:blip r:embed="rId8"/>
          <a:stretch>
            <a:fillRect/>
          </a:stretch>
        </p:blipFill>
        <p:spPr>
          <a:xfrm>
            <a:off x="1459153" y="1591590"/>
            <a:ext cx="7452302" cy="794236"/>
          </a:xfrm>
          <a:prstGeom prst="rect">
            <a:avLst/>
          </a:prstGeom>
        </p:spPr>
      </p:pic>
      <p:sp>
        <p:nvSpPr>
          <p:cNvPr id="5" name="文本框 4">
            <a:extLst>
              <a:ext uri="{FF2B5EF4-FFF2-40B4-BE49-F238E27FC236}">
                <a16:creationId xmlns:a16="http://schemas.microsoft.com/office/drawing/2014/main" id="{62409D8A-F054-3763-0468-4CE73499B869}"/>
              </a:ext>
            </a:extLst>
          </p:cNvPr>
          <p:cNvSpPr txBox="1"/>
          <p:nvPr/>
        </p:nvSpPr>
        <p:spPr>
          <a:xfrm>
            <a:off x="1459153" y="1186598"/>
            <a:ext cx="2684389" cy="553998"/>
          </a:xfrm>
          <a:prstGeom prst="rect">
            <a:avLst/>
          </a:prstGeom>
          <a:noFill/>
        </p:spPr>
        <p:txBody>
          <a:bodyPr wrap="none" rtlCol="0">
            <a:spAutoFit/>
          </a:bodyPr>
          <a:lstStyle/>
          <a:p>
            <a:r>
              <a:rPr lang="en-US" altLang="zh-CN" sz="1500" dirty="0">
                <a:latin typeface="Times New Roman" panose="02020603050405020304" pitchFamily="18" charset="0"/>
                <a:cs typeface="Times New Roman" panose="02020603050405020304" pitchFamily="18" charset="0"/>
              </a:rPr>
              <a:t>We provide six career categories</a:t>
            </a:r>
          </a:p>
          <a:p>
            <a:endParaRPr kumimoji="1" lang="zh-CN" altLang="en-US" sz="1500"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08270EAB-DD17-C427-3345-3ADDF91F59F6}"/>
              </a:ext>
            </a:extLst>
          </p:cNvPr>
          <p:cNvSpPr txBox="1"/>
          <p:nvPr/>
        </p:nvSpPr>
        <p:spPr>
          <a:xfrm>
            <a:off x="1459153" y="2492115"/>
            <a:ext cx="8335936" cy="569387"/>
          </a:xfrm>
          <a:prstGeom prst="rect">
            <a:avLst/>
          </a:prstGeom>
          <a:noFill/>
        </p:spPr>
        <p:txBody>
          <a:bodyPr wrap="none" rtlCol="0">
            <a:spAutoFit/>
          </a:bodyPr>
          <a:lstStyle>
            <a:defPPr>
              <a:defRPr lang="zh-CN"/>
            </a:defPPr>
            <a:lvl1pPr>
              <a:defRPr sz="1500">
                <a:latin typeface="Times New Roman" panose="02020603050405020304" pitchFamily="18" charset="0"/>
                <a:cs typeface="Times New Roman" panose="02020603050405020304" pitchFamily="18" charset="0"/>
              </a:defRPr>
            </a:lvl1pPr>
          </a:lstStyle>
          <a:p>
            <a:r>
              <a:rPr lang="en-US" altLang="zh-CN" dirty="0"/>
              <a:t>By clicking on a specific category, users can view the detailed types of jobs included within it.</a:t>
            </a:r>
          </a:p>
          <a:p>
            <a:endParaRPr lang="zh-CN" altLang="en-US" dirty="0"/>
          </a:p>
        </p:txBody>
      </p:sp>
      <p:sp>
        <p:nvSpPr>
          <p:cNvPr id="7" name="文本框 6">
            <a:extLst>
              <a:ext uri="{FF2B5EF4-FFF2-40B4-BE49-F238E27FC236}">
                <a16:creationId xmlns:a16="http://schemas.microsoft.com/office/drawing/2014/main" id="{8A2DBBBF-1F00-501D-3280-0D95AA23F3EB}"/>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2 – Design </a:t>
            </a:r>
            <a:r>
              <a:rPr kumimoji="1" lang="en-US" altLang="zh-CN" sz="2400" dirty="0">
                <a:latin typeface="Times New Roman" panose="02020603050405020304" pitchFamily="18" charset="0"/>
                <a:cs typeface="Times New Roman" panose="02020603050405020304" pitchFamily="18" charset="0"/>
              </a:rPr>
              <a:t>and develop </a:t>
            </a:r>
            <a:r>
              <a:rPr kumimoji="1" lang="en-US" altLang="zh-CN" sz="2300" dirty="0">
                <a:solidFill>
                  <a:srgbClr val="FF0000"/>
                </a:solidFill>
                <a:latin typeface="Times New Roman" panose="02020603050405020304" pitchFamily="18" charset="0"/>
                <a:cs typeface="Times New Roman" panose="02020603050405020304" pitchFamily="18" charset="0"/>
              </a:rPr>
              <a:t>Careers</a:t>
            </a:r>
            <a:r>
              <a:rPr kumimoji="1" lang="en-US" altLang="zh-CN" sz="2300" dirty="0">
                <a:latin typeface="Times New Roman" panose="02020603050405020304" pitchFamily="18" charset="0"/>
                <a:cs typeface="Times New Roman" panose="02020603050405020304" pitchFamily="18" charset="0"/>
              </a:rPr>
              <a:t> page</a:t>
            </a:r>
          </a:p>
        </p:txBody>
      </p:sp>
      <p:sp>
        <p:nvSpPr>
          <p:cNvPr id="8" name="TextBox 6">
            <a:extLst>
              <a:ext uri="{FF2B5EF4-FFF2-40B4-BE49-F238E27FC236}">
                <a16:creationId xmlns:a16="http://schemas.microsoft.com/office/drawing/2014/main" id="{F7889D92-89AA-C192-EFD4-AC7BC41E2145}"/>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14084124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E14C2-C251-556D-3820-AC161E24C126}"/>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0CA25600-F587-C436-7256-D9C37EF77E89}"/>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0" name="Freeform 10">
            <a:extLst>
              <a:ext uri="{FF2B5EF4-FFF2-40B4-BE49-F238E27FC236}">
                <a16:creationId xmlns:a16="http://schemas.microsoft.com/office/drawing/2014/main" id="{DD454C75-43B5-2F04-07FB-A8B2EEAE9870}"/>
              </a:ext>
            </a:extLst>
          </p:cNvPr>
          <p:cNvSpPr/>
          <p:nvPr/>
        </p:nvSpPr>
        <p:spPr>
          <a:xfrm rot="-7750267" flipV="1">
            <a:off x="270904" y="2259895"/>
            <a:ext cx="1114518" cy="1228427"/>
          </a:xfrm>
          <a:custGeom>
            <a:avLst/>
            <a:gdLst/>
            <a:ahLst/>
            <a:cxnLst/>
            <a:rect l="l" t="t" r="r" b="b"/>
            <a:pathLst>
              <a:path w="1671777" h="1842640">
                <a:moveTo>
                  <a:pt x="0" y="1842640"/>
                </a:moveTo>
                <a:lnTo>
                  <a:pt x="1671777" y="1842640"/>
                </a:lnTo>
                <a:lnTo>
                  <a:pt x="1671777" y="0"/>
                </a:lnTo>
                <a:lnTo>
                  <a:pt x="0" y="0"/>
                </a:lnTo>
                <a:lnTo>
                  <a:pt x="0" y="184264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2101DA75-0D36-8D29-8AF9-CA0983A75404}"/>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26" name="TextBox 26">
            <a:extLst>
              <a:ext uri="{FF2B5EF4-FFF2-40B4-BE49-F238E27FC236}">
                <a16:creationId xmlns:a16="http://schemas.microsoft.com/office/drawing/2014/main" id="{546505FE-5F82-CF86-F27A-98350928AF73}"/>
              </a:ext>
            </a:extLst>
          </p:cNvPr>
          <p:cNvSpPr txBox="1"/>
          <p:nvPr/>
        </p:nvSpPr>
        <p:spPr>
          <a:xfrm>
            <a:off x="9002314" y="2351540"/>
            <a:ext cx="2538268" cy="3081164"/>
          </a:xfrm>
          <a:prstGeom prst="rect">
            <a:avLst/>
          </a:prstGeom>
        </p:spPr>
        <p:txBody>
          <a:bodyPr lIns="0" tIns="0" rIns="0" bIns="0" rtlCol="0" anchor="t">
            <a:spAutoFit/>
          </a:bodyPr>
          <a:lstStyle/>
          <a:p>
            <a:pPr>
              <a:lnSpc>
                <a:spcPts val="2673"/>
              </a:lnSpc>
            </a:pPr>
            <a:r>
              <a:rPr lang="en-US" altLang="zh-CN" sz="1600" dirty="0">
                <a:latin typeface="Times New Roman" panose="02020603050405020304" pitchFamily="18" charset="0"/>
                <a:cs typeface="Times New Roman" panose="02020603050405020304" pitchFamily="18" charset="0"/>
              </a:rPr>
              <a:t>The main purpose of the Jobs page is to help students submit their resumes and understand which positions are currently open for applications.</a:t>
            </a:r>
          </a:p>
          <a:p>
            <a:pPr>
              <a:lnSpc>
                <a:spcPts val="2673"/>
              </a:lnSpc>
            </a:pPr>
            <a:r>
              <a:rPr lang="en-US" sz="1713" b="1" dirty="0">
                <a:solidFill>
                  <a:srgbClr val="FFFFFF"/>
                </a:solidFill>
                <a:latin typeface="Times New Roman" panose="02020603050405020304" pitchFamily="18" charset="0"/>
                <a:ea typeface="思源黑体 2 Bold"/>
                <a:cs typeface="Times New Roman" panose="02020603050405020304" pitchFamily="18" charset="0"/>
                <a:sym typeface="思源黑体 2 Bold"/>
              </a:rPr>
              <a:t>for </a:t>
            </a:r>
          </a:p>
          <a:p>
            <a:pPr>
              <a:lnSpc>
                <a:spcPts val="2673"/>
              </a:lnSpc>
            </a:pPr>
            <a:r>
              <a:rPr lang="en-US" sz="1713" b="1" dirty="0">
                <a:solidFill>
                  <a:srgbClr val="FFFFFF"/>
                </a:solidFill>
                <a:latin typeface="Times New Roman" panose="02020603050405020304" pitchFamily="18" charset="0"/>
                <a:ea typeface="思源黑体 2 Bold"/>
                <a:cs typeface="Times New Roman" panose="02020603050405020304" pitchFamily="18" charset="0"/>
                <a:sym typeface="思源黑体 2 Bold"/>
              </a:rPr>
              <a:t>direct employment</a:t>
            </a:r>
          </a:p>
          <a:p>
            <a:pPr>
              <a:lnSpc>
                <a:spcPts val="2673"/>
              </a:lnSpc>
            </a:pPr>
            <a:endParaRPr lang="en-US" sz="1713" b="1" dirty="0">
              <a:solidFill>
                <a:srgbClr val="FFFFFF"/>
              </a:solidFill>
              <a:latin typeface="Times New Roman" panose="02020603050405020304" pitchFamily="18" charset="0"/>
              <a:ea typeface="思源黑体 2 Bold"/>
              <a:cs typeface="Times New Roman" panose="02020603050405020304" pitchFamily="18" charset="0"/>
              <a:sym typeface="思源黑体 2 Bold"/>
            </a:endParaRPr>
          </a:p>
          <a:p>
            <a:pPr>
              <a:lnSpc>
                <a:spcPts val="2673"/>
              </a:lnSpc>
            </a:pPr>
            <a:endParaRPr lang="en-US" sz="1713" b="1" dirty="0">
              <a:solidFill>
                <a:srgbClr val="FFFFFF"/>
              </a:solidFill>
              <a:latin typeface="Times New Roman" panose="02020603050405020304" pitchFamily="18" charset="0"/>
              <a:ea typeface="思源黑体 2 Bold"/>
              <a:cs typeface="Times New Roman" panose="02020603050405020304" pitchFamily="18" charset="0"/>
              <a:sym typeface="思源黑体 2 Bold"/>
            </a:endParaRPr>
          </a:p>
        </p:txBody>
      </p:sp>
      <p:sp>
        <p:nvSpPr>
          <p:cNvPr id="30" name="TextBox 5">
            <a:extLst>
              <a:ext uri="{FF2B5EF4-FFF2-40B4-BE49-F238E27FC236}">
                <a16:creationId xmlns:a16="http://schemas.microsoft.com/office/drawing/2014/main" id="{DEB019D7-6097-6FF8-6FD5-232A53747406}"/>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61F78B3E-2BD2-1DB4-4BBC-0E1DFBD72290}"/>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pic>
        <p:nvPicPr>
          <p:cNvPr id="3" name="图片 2">
            <a:extLst>
              <a:ext uri="{FF2B5EF4-FFF2-40B4-BE49-F238E27FC236}">
                <a16:creationId xmlns:a16="http://schemas.microsoft.com/office/drawing/2014/main" id="{A4761FDD-912F-F451-5C50-F34285B5ED95}"/>
              </a:ext>
            </a:extLst>
          </p:cNvPr>
          <p:cNvPicPr>
            <a:picLocks noChangeAspect="1"/>
          </p:cNvPicPr>
          <p:nvPr/>
        </p:nvPicPr>
        <p:blipFill>
          <a:blip r:embed="rId7"/>
          <a:stretch>
            <a:fillRect/>
          </a:stretch>
        </p:blipFill>
        <p:spPr>
          <a:xfrm>
            <a:off x="955306" y="1116197"/>
            <a:ext cx="7772400" cy="4855790"/>
          </a:xfrm>
          <a:prstGeom prst="rect">
            <a:avLst/>
          </a:prstGeom>
        </p:spPr>
      </p:pic>
      <p:sp>
        <p:nvSpPr>
          <p:cNvPr id="4" name="文本框 3">
            <a:extLst>
              <a:ext uri="{FF2B5EF4-FFF2-40B4-BE49-F238E27FC236}">
                <a16:creationId xmlns:a16="http://schemas.microsoft.com/office/drawing/2014/main" id="{46A41938-FE60-36F8-A2B7-5FDA9EAF8DA5}"/>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4 – Design </a:t>
            </a:r>
            <a:r>
              <a:rPr kumimoji="1" lang="en-US" altLang="zh-CN" sz="2400" dirty="0">
                <a:latin typeface="Times New Roman" panose="02020603050405020304" pitchFamily="18" charset="0"/>
                <a:cs typeface="Times New Roman" panose="02020603050405020304" pitchFamily="18" charset="0"/>
              </a:rPr>
              <a:t>and develop </a:t>
            </a:r>
            <a:r>
              <a:rPr kumimoji="1" lang="en-US" altLang="zh-CN" sz="2400" dirty="0">
                <a:solidFill>
                  <a:srgbClr val="FF0000"/>
                </a:solidFill>
                <a:latin typeface="Times New Roman" panose="02020603050405020304" pitchFamily="18" charset="0"/>
                <a:cs typeface="Times New Roman" panose="02020603050405020304" pitchFamily="18" charset="0"/>
              </a:rPr>
              <a:t>Jobs</a:t>
            </a:r>
            <a:r>
              <a:rPr kumimoji="1" lang="en-US" altLang="zh-CN" sz="24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page</a:t>
            </a:r>
          </a:p>
        </p:txBody>
      </p:sp>
      <p:sp>
        <p:nvSpPr>
          <p:cNvPr id="5" name="TextBox 6">
            <a:extLst>
              <a:ext uri="{FF2B5EF4-FFF2-40B4-BE49-F238E27FC236}">
                <a16:creationId xmlns:a16="http://schemas.microsoft.com/office/drawing/2014/main" id="{D38DEF7C-4095-A344-F45E-964B4FC92FEB}"/>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1957549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1B65F-4395-2F80-73E8-D9AD8AED71C3}"/>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C2BDEB98-EEA7-9C96-4B1A-63CF48F7CFE7}"/>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0" name="Freeform 10">
            <a:extLst>
              <a:ext uri="{FF2B5EF4-FFF2-40B4-BE49-F238E27FC236}">
                <a16:creationId xmlns:a16="http://schemas.microsoft.com/office/drawing/2014/main" id="{928941E5-43B1-451B-E425-24903B75866D}"/>
              </a:ext>
            </a:extLst>
          </p:cNvPr>
          <p:cNvSpPr/>
          <p:nvPr/>
        </p:nvSpPr>
        <p:spPr>
          <a:xfrm rot="-7750267" flipV="1">
            <a:off x="270904" y="2259895"/>
            <a:ext cx="1114518" cy="1228427"/>
          </a:xfrm>
          <a:custGeom>
            <a:avLst/>
            <a:gdLst/>
            <a:ahLst/>
            <a:cxnLst/>
            <a:rect l="l" t="t" r="r" b="b"/>
            <a:pathLst>
              <a:path w="1671777" h="1842640">
                <a:moveTo>
                  <a:pt x="0" y="1842640"/>
                </a:moveTo>
                <a:lnTo>
                  <a:pt x="1671777" y="1842640"/>
                </a:lnTo>
                <a:lnTo>
                  <a:pt x="1671777" y="0"/>
                </a:lnTo>
                <a:lnTo>
                  <a:pt x="0" y="0"/>
                </a:lnTo>
                <a:lnTo>
                  <a:pt x="0" y="184264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0CB94F49-96A2-05EE-CA8F-3CD915CA3540}"/>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30" name="TextBox 5">
            <a:extLst>
              <a:ext uri="{FF2B5EF4-FFF2-40B4-BE49-F238E27FC236}">
                <a16:creationId xmlns:a16="http://schemas.microsoft.com/office/drawing/2014/main" id="{2E6A0E11-13D5-A944-FD18-8DEE9AF543DB}"/>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A63DB859-10B5-C3D1-AEAD-E001CEA3C7EF}"/>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pic>
        <p:nvPicPr>
          <p:cNvPr id="4" name="图片 3">
            <a:extLst>
              <a:ext uri="{FF2B5EF4-FFF2-40B4-BE49-F238E27FC236}">
                <a16:creationId xmlns:a16="http://schemas.microsoft.com/office/drawing/2014/main" id="{C4DBCC3B-F1F0-1350-B80C-7290413C0A46}"/>
              </a:ext>
            </a:extLst>
          </p:cNvPr>
          <p:cNvPicPr>
            <a:picLocks noChangeAspect="1"/>
          </p:cNvPicPr>
          <p:nvPr/>
        </p:nvPicPr>
        <p:blipFill>
          <a:blip r:embed="rId7"/>
          <a:stretch>
            <a:fillRect/>
          </a:stretch>
        </p:blipFill>
        <p:spPr>
          <a:xfrm>
            <a:off x="1424190" y="2609957"/>
            <a:ext cx="8531039" cy="1288957"/>
          </a:xfrm>
          <a:prstGeom prst="rect">
            <a:avLst/>
          </a:prstGeom>
        </p:spPr>
      </p:pic>
      <p:sp>
        <p:nvSpPr>
          <p:cNvPr id="6" name="文本框 5">
            <a:extLst>
              <a:ext uri="{FF2B5EF4-FFF2-40B4-BE49-F238E27FC236}">
                <a16:creationId xmlns:a16="http://schemas.microsoft.com/office/drawing/2014/main" id="{FE634500-3AFD-CCBF-30D8-E83728FEE29D}"/>
              </a:ext>
            </a:extLst>
          </p:cNvPr>
          <p:cNvSpPr txBox="1"/>
          <p:nvPr/>
        </p:nvSpPr>
        <p:spPr>
          <a:xfrm>
            <a:off x="2548380" y="4619840"/>
            <a:ext cx="6096000" cy="553998"/>
          </a:xfrm>
          <a:prstGeom prst="rect">
            <a:avLst/>
          </a:prstGeom>
          <a:noFill/>
        </p:spPr>
        <p:txBody>
          <a:bodyPr wrap="square">
            <a:spAutoFit/>
          </a:bodyPr>
          <a:lstStyle/>
          <a:p>
            <a:pPr>
              <a:buNone/>
            </a:pPr>
            <a:r>
              <a:rPr lang="en-US" altLang="zh-CN" sz="1500" dirty="0">
                <a:latin typeface="Times New Roman" panose="02020603050405020304" pitchFamily="18" charset="0"/>
                <a:cs typeface="Times New Roman" panose="02020603050405020304" pitchFamily="18" charset="0"/>
              </a:rPr>
              <a:t>We divided all positions into six categories, allowing users to search for relevant jobs either by category filters or by keywords.</a:t>
            </a:r>
          </a:p>
        </p:txBody>
      </p:sp>
      <p:sp>
        <p:nvSpPr>
          <p:cNvPr id="11" name="文本框 10">
            <a:extLst>
              <a:ext uri="{FF2B5EF4-FFF2-40B4-BE49-F238E27FC236}">
                <a16:creationId xmlns:a16="http://schemas.microsoft.com/office/drawing/2014/main" id="{46C8D680-276D-2D70-2610-F1C5F5AEE230}"/>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4 – Design </a:t>
            </a:r>
            <a:r>
              <a:rPr kumimoji="1" lang="en-US" altLang="zh-CN" sz="2400" dirty="0">
                <a:latin typeface="Times New Roman" panose="02020603050405020304" pitchFamily="18" charset="0"/>
                <a:cs typeface="Times New Roman" panose="02020603050405020304" pitchFamily="18" charset="0"/>
              </a:rPr>
              <a:t>and develop </a:t>
            </a:r>
            <a:r>
              <a:rPr kumimoji="1" lang="en-US" altLang="zh-CN" sz="2400" dirty="0">
                <a:solidFill>
                  <a:srgbClr val="FF0000"/>
                </a:solidFill>
                <a:latin typeface="Times New Roman" panose="02020603050405020304" pitchFamily="18" charset="0"/>
                <a:cs typeface="Times New Roman" panose="02020603050405020304" pitchFamily="18" charset="0"/>
              </a:rPr>
              <a:t>Jobs</a:t>
            </a:r>
            <a:r>
              <a:rPr kumimoji="1" lang="en-US" altLang="zh-CN" sz="24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page</a:t>
            </a:r>
          </a:p>
        </p:txBody>
      </p:sp>
      <p:sp>
        <p:nvSpPr>
          <p:cNvPr id="12" name="TextBox 6">
            <a:extLst>
              <a:ext uri="{FF2B5EF4-FFF2-40B4-BE49-F238E27FC236}">
                <a16:creationId xmlns:a16="http://schemas.microsoft.com/office/drawing/2014/main" id="{B2F9148E-1D74-C5AF-FB42-9AA0515AD3D2}"/>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4270014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5C1CD-E8FE-7F02-44B2-831E9E6695FF}"/>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6A2E446F-6CB4-D09B-F3CB-BF893154CF11}"/>
              </a:ext>
            </a:extLst>
          </p:cNvPr>
          <p:cNvPicPr>
            <a:picLocks noChangeAspect="1"/>
          </p:cNvPicPr>
          <p:nvPr/>
        </p:nvPicPr>
        <p:blipFill>
          <a:blip r:embed="rId3"/>
          <a:stretch>
            <a:fillRect/>
          </a:stretch>
        </p:blipFill>
        <p:spPr>
          <a:xfrm>
            <a:off x="732573" y="1196794"/>
            <a:ext cx="5487913" cy="3370338"/>
          </a:xfrm>
          <a:prstGeom prst="rect">
            <a:avLst/>
          </a:prstGeom>
        </p:spPr>
      </p:pic>
      <p:sp>
        <p:nvSpPr>
          <p:cNvPr id="9" name="Freeform 9">
            <a:extLst>
              <a:ext uri="{FF2B5EF4-FFF2-40B4-BE49-F238E27FC236}">
                <a16:creationId xmlns:a16="http://schemas.microsoft.com/office/drawing/2014/main" id="{0E1660E5-F200-FA46-583F-05554A692B99}"/>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A37146C2-3727-2BDB-452D-2D5A80B415B2}"/>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30" name="TextBox 5">
            <a:extLst>
              <a:ext uri="{FF2B5EF4-FFF2-40B4-BE49-F238E27FC236}">
                <a16:creationId xmlns:a16="http://schemas.microsoft.com/office/drawing/2014/main" id="{69A6B936-0B4C-A460-A1E5-31D322B558F3}"/>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C904925A-4EA0-3521-6973-FCE0E88C6DCB}"/>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sp>
        <p:nvSpPr>
          <p:cNvPr id="4" name="矩形 3">
            <a:extLst>
              <a:ext uri="{FF2B5EF4-FFF2-40B4-BE49-F238E27FC236}">
                <a16:creationId xmlns:a16="http://schemas.microsoft.com/office/drawing/2014/main" id="{A24AD03A-C0BC-2ED8-3832-3EB94467242A}"/>
              </a:ext>
            </a:extLst>
          </p:cNvPr>
          <p:cNvSpPr/>
          <p:nvPr/>
        </p:nvSpPr>
        <p:spPr>
          <a:xfrm>
            <a:off x="3402101" y="4255954"/>
            <a:ext cx="852055" cy="15945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7" name="图片 6">
            <a:extLst>
              <a:ext uri="{FF2B5EF4-FFF2-40B4-BE49-F238E27FC236}">
                <a16:creationId xmlns:a16="http://schemas.microsoft.com/office/drawing/2014/main" id="{FAD2090A-68D3-2197-7628-CBE63A4DEEAD}"/>
              </a:ext>
            </a:extLst>
          </p:cNvPr>
          <p:cNvPicPr>
            <a:picLocks noChangeAspect="1"/>
          </p:cNvPicPr>
          <p:nvPr/>
        </p:nvPicPr>
        <p:blipFill>
          <a:blip r:embed="rId6"/>
          <a:stretch>
            <a:fillRect/>
          </a:stretch>
        </p:blipFill>
        <p:spPr>
          <a:xfrm>
            <a:off x="5449472" y="3242688"/>
            <a:ext cx="6200388" cy="3189244"/>
          </a:xfrm>
          <a:prstGeom prst="rect">
            <a:avLst/>
          </a:prstGeom>
        </p:spPr>
      </p:pic>
      <p:sp>
        <p:nvSpPr>
          <p:cNvPr id="8" name="文本框 7">
            <a:extLst>
              <a:ext uri="{FF2B5EF4-FFF2-40B4-BE49-F238E27FC236}">
                <a16:creationId xmlns:a16="http://schemas.microsoft.com/office/drawing/2014/main" id="{7A2D7D39-68CE-3F0B-C42C-6FD70173FF78}"/>
              </a:ext>
            </a:extLst>
          </p:cNvPr>
          <p:cNvSpPr txBox="1"/>
          <p:nvPr/>
        </p:nvSpPr>
        <p:spPr>
          <a:xfrm>
            <a:off x="732573" y="4738319"/>
            <a:ext cx="4040372" cy="784830"/>
          </a:xfrm>
          <a:prstGeom prst="rect">
            <a:avLst/>
          </a:prstGeom>
          <a:noFill/>
        </p:spPr>
        <p:txBody>
          <a:bodyPr wrap="square" rtlCol="0">
            <a:spAutoFit/>
          </a:bodyPr>
          <a:lstStyle/>
          <a:p>
            <a:r>
              <a:rPr lang="en-US" altLang="zh-CN" sz="1500" dirty="0">
                <a:latin typeface="Times New Roman" panose="02020603050405020304" pitchFamily="18" charset="0"/>
                <a:cs typeface="Times New Roman" panose="02020603050405020304" pitchFamily="18" charset="0"/>
              </a:rPr>
              <a:t>For example, here we select “Security” for demonstration purposes.</a:t>
            </a:r>
          </a:p>
          <a:p>
            <a:endParaRPr kumimoji="1" lang="zh-CN" altLang="en-US" sz="1500" dirty="0">
              <a:latin typeface="Times New Roman" panose="02020603050405020304" pitchFamily="18" charset="0"/>
              <a:cs typeface="Times New Roman" panose="02020603050405020304" pitchFamily="18" charset="0"/>
            </a:endParaRPr>
          </a:p>
        </p:txBody>
      </p:sp>
      <p:sp>
        <p:nvSpPr>
          <p:cNvPr id="11" name="文本框 10">
            <a:extLst>
              <a:ext uri="{FF2B5EF4-FFF2-40B4-BE49-F238E27FC236}">
                <a16:creationId xmlns:a16="http://schemas.microsoft.com/office/drawing/2014/main" id="{75A66D3A-161E-3C8B-87DA-E9C819D62E22}"/>
              </a:ext>
            </a:extLst>
          </p:cNvPr>
          <p:cNvSpPr txBox="1"/>
          <p:nvPr/>
        </p:nvSpPr>
        <p:spPr>
          <a:xfrm>
            <a:off x="5807892" y="2010428"/>
            <a:ext cx="6181970" cy="1015663"/>
          </a:xfrm>
          <a:prstGeom prst="rect">
            <a:avLst/>
          </a:prstGeom>
          <a:noFill/>
        </p:spPr>
        <p:txBody>
          <a:bodyPr wrap="square" rtlCol="0">
            <a:spAutoFit/>
          </a:bodyPr>
          <a:lstStyle/>
          <a:p>
            <a:r>
              <a:rPr lang="en-US" altLang="zh-CN" sz="1500" dirty="0">
                <a:latin typeface="Times New Roman" panose="02020603050405020304" pitchFamily="18" charset="0"/>
                <a:cs typeface="Times New Roman" panose="02020603050405020304" pitchFamily="18" charset="0"/>
              </a:rPr>
              <a:t>Users can then click on a relevant company, which will redirect them to all Security-related positions offered by that company. In this example, this function is implemented for Google.</a:t>
            </a:r>
          </a:p>
          <a:p>
            <a:endParaRPr kumimoji="1" lang="zh-CN" altLang="en-US" sz="1500" dirty="0">
              <a:latin typeface="Times New Roman" panose="02020603050405020304" pitchFamily="18" charset="0"/>
              <a:cs typeface="Times New Roman" panose="02020603050405020304" pitchFamily="18" charset="0"/>
            </a:endParaRPr>
          </a:p>
        </p:txBody>
      </p:sp>
      <p:sp>
        <p:nvSpPr>
          <p:cNvPr id="13" name="文本框 12">
            <a:extLst>
              <a:ext uri="{FF2B5EF4-FFF2-40B4-BE49-F238E27FC236}">
                <a16:creationId xmlns:a16="http://schemas.microsoft.com/office/drawing/2014/main" id="{2E8AB91C-19DA-86BD-80A4-81178A05CC45}"/>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4 – Design </a:t>
            </a:r>
            <a:r>
              <a:rPr kumimoji="1" lang="en-US" altLang="zh-CN" sz="2400" dirty="0">
                <a:latin typeface="Times New Roman" panose="02020603050405020304" pitchFamily="18" charset="0"/>
                <a:cs typeface="Times New Roman" panose="02020603050405020304" pitchFamily="18" charset="0"/>
              </a:rPr>
              <a:t>and develop </a:t>
            </a:r>
            <a:r>
              <a:rPr kumimoji="1" lang="en-US" altLang="zh-CN" sz="2400" dirty="0">
                <a:solidFill>
                  <a:srgbClr val="FF0000"/>
                </a:solidFill>
                <a:latin typeface="Times New Roman" panose="02020603050405020304" pitchFamily="18" charset="0"/>
                <a:cs typeface="Times New Roman" panose="02020603050405020304" pitchFamily="18" charset="0"/>
              </a:rPr>
              <a:t>Jobs</a:t>
            </a:r>
            <a:r>
              <a:rPr kumimoji="1" lang="en-US" altLang="zh-CN" sz="24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page</a:t>
            </a:r>
          </a:p>
        </p:txBody>
      </p:sp>
      <p:sp>
        <p:nvSpPr>
          <p:cNvPr id="14" name="TextBox 6">
            <a:extLst>
              <a:ext uri="{FF2B5EF4-FFF2-40B4-BE49-F238E27FC236}">
                <a16:creationId xmlns:a16="http://schemas.microsoft.com/office/drawing/2014/main" id="{393F5CAD-C004-7356-1C50-B5C055CDA8A0}"/>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1539140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91C75-DB9A-8442-C15C-BF3AA15D21BC}"/>
            </a:ext>
          </a:extLst>
        </p:cNvPr>
        <p:cNvGrpSpPr/>
        <p:nvPr/>
      </p:nvGrpSpPr>
      <p:grpSpPr>
        <a:xfrm>
          <a:off x="0" y="0"/>
          <a:ext cx="0" cy="0"/>
          <a:chOff x="0" y="0"/>
          <a:chExt cx="0" cy="0"/>
        </a:xfrm>
      </p:grpSpPr>
      <p:sp>
        <p:nvSpPr>
          <p:cNvPr id="18" name="TextBox 18">
            <a:extLst>
              <a:ext uri="{FF2B5EF4-FFF2-40B4-BE49-F238E27FC236}">
                <a16:creationId xmlns:a16="http://schemas.microsoft.com/office/drawing/2014/main" id="{1AD2051E-B91B-37F4-62A1-743BF26C4D9A}"/>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30" name="TextBox 5">
            <a:extLst>
              <a:ext uri="{FF2B5EF4-FFF2-40B4-BE49-F238E27FC236}">
                <a16:creationId xmlns:a16="http://schemas.microsoft.com/office/drawing/2014/main" id="{B35AFD60-1476-54C5-8228-C5669166D2BF}"/>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2B480BB9-5DED-136B-6889-4F68E4214604}"/>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pic>
        <p:nvPicPr>
          <p:cNvPr id="3" name="图片 2">
            <a:extLst>
              <a:ext uri="{FF2B5EF4-FFF2-40B4-BE49-F238E27FC236}">
                <a16:creationId xmlns:a16="http://schemas.microsoft.com/office/drawing/2014/main" id="{036CFED2-789C-5355-C3F1-0574D11A537C}"/>
              </a:ext>
            </a:extLst>
          </p:cNvPr>
          <p:cNvPicPr>
            <a:picLocks noChangeAspect="1"/>
          </p:cNvPicPr>
          <p:nvPr/>
        </p:nvPicPr>
        <p:blipFill>
          <a:blip r:embed="rId3"/>
          <a:stretch>
            <a:fillRect/>
          </a:stretch>
        </p:blipFill>
        <p:spPr>
          <a:xfrm>
            <a:off x="365519" y="1209735"/>
            <a:ext cx="5756217" cy="3521754"/>
          </a:xfrm>
          <a:prstGeom prst="rect">
            <a:avLst/>
          </a:prstGeom>
        </p:spPr>
      </p:pic>
      <p:sp>
        <p:nvSpPr>
          <p:cNvPr id="5" name="文本框 4">
            <a:extLst>
              <a:ext uri="{FF2B5EF4-FFF2-40B4-BE49-F238E27FC236}">
                <a16:creationId xmlns:a16="http://schemas.microsoft.com/office/drawing/2014/main" id="{05EA445D-C170-BBF1-9A71-7C1F92B2F6AC}"/>
              </a:ext>
            </a:extLst>
          </p:cNvPr>
          <p:cNvSpPr txBox="1"/>
          <p:nvPr/>
        </p:nvSpPr>
        <p:spPr>
          <a:xfrm>
            <a:off x="539012" y="4896872"/>
            <a:ext cx="5298262" cy="553998"/>
          </a:xfrm>
          <a:prstGeom prst="rect">
            <a:avLst/>
          </a:prstGeom>
          <a:noFill/>
        </p:spPr>
        <p:txBody>
          <a:bodyPr wrap="square">
            <a:spAutoFit/>
          </a:bodyPr>
          <a:lstStyle/>
          <a:p>
            <a:pPr>
              <a:buNone/>
            </a:pPr>
            <a:r>
              <a:rPr lang="en-US" altLang="zh-CN" sz="1500" dirty="0">
                <a:latin typeface="Times New Roman" panose="02020603050405020304" pitchFamily="18" charset="0"/>
                <a:cs typeface="Times New Roman" panose="02020603050405020304" pitchFamily="18" charset="0"/>
              </a:rPr>
              <a:t>We also provide an AI assistant to help users with career and application planning.</a:t>
            </a:r>
          </a:p>
        </p:txBody>
      </p:sp>
      <p:pic>
        <p:nvPicPr>
          <p:cNvPr id="6" name="图片 5">
            <a:extLst>
              <a:ext uri="{FF2B5EF4-FFF2-40B4-BE49-F238E27FC236}">
                <a16:creationId xmlns:a16="http://schemas.microsoft.com/office/drawing/2014/main" id="{230DC6ED-43FA-7750-4489-3233964F15DE}"/>
              </a:ext>
            </a:extLst>
          </p:cNvPr>
          <p:cNvPicPr>
            <a:picLocks noChangeAspect="1"/>
          </p:cNvPicPr>
          <p:nvPr/>
        </p:nvPicPr>
        <p:blipFill>
          <a:blip r:embed="rId4"/>
          <a:stretch>
            <a:fillRect/>
          </a:stretch>
        </p:blipFill>
        <p:spPr>
          <a:xfrm>
            <a:off x="6360469" y="1209734"/>
            <a:ext cx="5244912" cy="3521754"/>
          </a:xfrm>
          <a:prstGeom prst="rect">
            <a:avLst/>
          </a:prstGeom>
        </p:spPr>
      </p:pic>
      <p:sp>
        <p:nvSpPr>
          <p:cNvPr id="7" name="文本框 6">
            <a:extLst>
              <a:ext uri="{FF2B5EF4-FFF2-40B4-BE49-F238E27FC236}">
                <a16:creationId xmlns:a16="http://schemas.microsoft.com/office/drawing/2014/main" id="{A2A3469A-843E-B717-4909-DC0EB42C9E09}"/>
              </a:ext>
            </a:extLst>
          </p:cNvPr>
          <p:cNvSpPr txBox="1"/>
          <p:nvPr/>
        </p:nvSpPr>
        <p:spPr>
          <a:xfrm>
            <a:off x="6354728" y="4896872"/>
            <a:ext cx="4777560" cy="784830"/>
          </a:xfrm>
          <a:prstGeom prst="rect">
            <a:avLst/>
          </a:prstGeom>
          <a:noFill/>
        </p:spPr>
        <p:txBody>
          <a:bodyPr wrap="square" rtlCol="0">
            <a:spAutoFit/>
          </a:bodyPr>
          <a:lstStyle/>
          <a:p>
            <a:r>
              <a:rPr lang="en-US" altLang="zh-CN" sz="1500" dirty="0">
                <a:latin typeface="Times New Roman" panose="02020603050405020304" pitchFamily="18" charset="0"/>
                <a:cs typeface="Times New Roman" panose="02020603050405020304" pitchFamily="18" charset="0"/>
              </a:rPr>
              <a:t>After logging in, users can interact with the AI assistant and ask it to help them with personalized planning.</a:t>
            </a:r>
          </a:p>
          <a:p>
            <a:endParaRPr kumimoji="1" lang="zh-CN" altLang="en-US" sz="1500"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2CA9C529-78C7-EA79-ED2B-BE8B3AFA543A}"/>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5 – Design </a:t>
            </a:r>
            <a:r>
              <a:rPr kumimoji="1" lang="en-US" altLang="zh-CN" sz="2400" dirty="0">
                <a:latin typeface="Times New Roman" panose="02020603050405020304" pitchFamily="18" charset="0"/>
                <a:cs typeface="Times New Roman" panose="02020603050405020304" pitchFamily="18" charset="0"/>
              </a:rPr>
              <a:t>and develop </a:t>
            </a:r>
            <a:r>
              <a:rPr kumimoji="1" lang="en-US" altLang="zh-CN" sz="2400" dirty="0">
                <a:solidFill>
                  <a:srgbClr val="FF0000"/>
                </a:solidFill>
                <a:latin typeface="Times New Roman" panose="02020603050405020304" pitchFamily="18" charset="0"/>
                <a:cs typeface="Times New Roman" panose="02020603050405020304" pitchFamily="18" charset="0"/>
              </a:rPr>
              <a:t>AI Chat</a:t>
            </a:r>
            <a:r>
              <a:rPr kumimoji="1" lang="en-US" altLang="zh-CN" sz="24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page</a:t>
            </a:r>
          </a:p>
        </p:txBody>
      </p:sp>
      <p:sp>
        <p:nvSpPr>
          <p:cNvPr id="11" name="TextBox 6">
            <a:extLst>
              <a:ext uri="{FF2B5EF4-FFF2-40B4-BE49-F238E27FC236}">
                <a16:creationId xmlns:a16="http://schemas.microsoft.com/office/drawing/2014/main" id="{C4BC17D3-3688-7F04-B6FB-2FA353C8AF64}"/>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2990069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AB4A3-7EAC-1E56-C9EB-FE6D8DFC9D1E}"/>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52337F20-EC64-0988-A6DB-DDA55017357A}"/>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0" name="Freeform 10">
            <a:extLst>
              <a:ext uri="{FF2B5EF4-FFF2-40B4-BE49-F238E27FC236}">
                <a16:creationId xmlns:a16="http://schemas.microsoft.com/office/drawing/2014/main" id="{83756243-53E7-26AA-94C5-8262D7366B65}"/>
              </a:ext>
            </a:extLst>
          </p:cNvPr>
          <p:cNvSpPr/>
          <p:nvPr/>
        </p:nvSpPr>
        <p:spPr>
          <a:xfrm rot="-7750267" flipV="1">
            <a:off x="270904" y="2259895"/>
            <a:ext cx="1114518" cy="1228427"/>
          </a:xfrm>
          <a:custGeom>
            <a:avLst/>
            <a:gdLst/>
            <a:ahLst/>
            <a:cxnLst/>
            <a:rect l="l" t="t" r="r" b="b"/>
            <a:pathLst>
              <a:path w="1671777" h="1842640">
                <a:moveTo>
                  <a:pt x="0" y="1842640"/>
                </a:moveTo>
                <a:lnTo>
                  <a:pt x="1671777" y="1842640"/>
                </a:lnTo>
                <a:lnTo>
                  <a:pt x="1671777" y="0"/>
                </a:lnTo>
                <a:lnTo>
                  <a:pt x="0" y="0"/>
                </a:lnTo>
                <a:lnTo>
                  <a:pt x="0" y="184264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B37D8371-C559-0DE4-70E1-C8A46D5C1BA8}"/>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30" name="TextBox 5">
            <a:extLst>
              <a:ext uri="{FF2B5EF4-FFF2-40B4-BE49-F238E27FC236}">
                <a16:creationId xmlns:a16="http://schemas.microsoft.com/office/drawing/2014/main" id="{077C8870-0FA8-D2EC-B641-0308BB1D893F}"/>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01B635AC-F941-9886-0F02-4265A1BEC937}"/>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sp>
        <p:nvSpPr>
          <p:cNvPr id="4" name="文本框 3">
            <a:extLst>
              <a:ext uri="{FF2B5EF4-FFF2-40B4-BE49-F238E27FC236}">
                <a16:creationId xmlns:a16="http://schemas.microsoft.com/office/drawing/2014/main" id="{8F20D61F-5D8C-6218-952D-696D603D157C}"/>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My</a:t>
            </a:r>
            <a:r>
              <a:rPr kumimoji="1" lang="zh-CN" altLang="en-US" sz="23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main contribution 5 – Design </a:t>
            </a:r>
            <a:r>
              <a:rPr kumimoji="1" lang="en-US" altLang="zh-CN" sz="2400" dirty="0">
                <a:latin typeface="Times New Roman" panose="02020603050405020304" pitchFamily="18" charset="0"/>
                <a:cs typeface="Times New Roman" panose="02020603050405020304" pitchFamily="18" charset="0"/>
              </a:rPr>
              <a:t>and develop </a:t>
            </a:r>
            <a:r>
              <a:rPr kumimoji="1" lang="en-US" altLang="zh-CN" sz="2400" dirty="0">
                <a:solidFill>
                  <a:srgbClr val="FF0000"/>
                </a:solidFill>
                <a:latin typeface="Times New Roman" panose="02020603050405020304" pitchFamily="18" charset="0"/>
                <a:cs typeface="Times New Roman" panose="02020603050405020304" pitchFamily="18" charset="0"/>
              </a:rPr>
              <a:t>AI Chat</a:t>
            </a:r>
            <a:r>
              <a:rPr kumimoji="1" lang="en-US" altLang="zh-CN" sz="2400" dirty="0">
                <a:latin typeface="Times New Roman" panose="02020603050405020304" pitchFamily="18" charset="0"/>
                <a:cs typeface="Times New Roman" panose="02020603050405020304" pitchFamily="18" charset="0"/>
              </a:rPr>
              <a:t> </a:t>
            </a:r>
            <a:r>
              <a:rPr kumimoji="1" lang="en-US" altLang="zh-CN" sz="2300" dirty="0">
                <a:latin typeface="Times New Roman" panose="02020603050405020304" pitchFamily="18" charset="0"/>
                <a:cs typeface="Times New Roman" panose="02020603050405020304" pitchFamily="18" charset="0"/>
              </a:rPr>
              <a:t>page</a:t>
            </a:r>
          </a:p>
        </p:txBody>
      </p:sp>
      <p:pic>
        <p:nvPicPr>
          <p:cNvPr id="5" name="图片 4">
            <a:extLst>
              <a:ext uri="{FF2B5EF4-FFF2-40B4-BE49-F238E27FC236}">
                <a16:creationId xmlns:a16="http://schemas.microsoft.com/office/drawing/2014/main" id="{A241233B-EDC2-2702-4733-1975C54FEE75}"/>
              </a:ext>
            </a:extLst>
          </p:cNvPr>
          <p:cNvPicPr>
            <a:picLocks noChangeAspect="1"/>
          </p:cNvPicPr>
          <p:nvPr/>
        </p:nvPicPr>
        <p:blipFill>
          <a:blip r:embed="rId7"/>
          <a:stretch>
            <a:fillRect/>
          </a:stretch>
        </p:blipFill>
        <p:spPr>
          <a:xfrm>
            <a:off x="1578760" y="1225123"/>
            <a:ext cx="8083314" cy="4515004"/>
          </a:xfrm>
          <a:prstGeom prst="rect">
            <a:avLst/>
          </a:prstGeom>
        </p:spPr>
      </p:pic>
      <p:sp>
        <p:nvSpPr>
          <p:cNvPr id="6" name="文本框 5">
            <a:extLst>
              <a:ext uri="{FF2B5EF4-FFF2-40B4-BE49-F238E27FC236}">
                <a16:creationId xmlns:a16="http://schemas.microsoft.com/office/drawing/2014/main" id="{3F9E956D-7383-60C5-1083-39D12555A602}"/>
              </a:ext>
            </a:extLst>
          </p:cNvPr>
          <p:cNvSpPr txBox="1"/>
          <p:nvPr/>
        </p:nvSpPr>
        <p:spPr>
          <a:xfrm>
            <a:off x="1578760" y="5924254"/>
            <a:ext cx="8416610" cy="784830"/>
          </a:xfrm>
          <a:prstGeom prst="rect">
            <a:avLst/>
          </a:prstGeom>
          <a:noFill/>
        </p:spPr>
        <p:txBody>
          <a:bodyPr wrap="square" rtlCol="0">
            <a:spAutoFit/>
          </a:bodyPr>
          <a:lstStyle/>
          <a:p>
            <a:r>
              <a:rPr lang="en-US" altLang="zh-CN" sz="1500" dirty="0">
                <a:latin typeface="Times New Roman" panose="02020603050405020304" pitchFamily="18" charset="0"/>
                <a:cs typeface="Times New Roman" panose="02020603050405020304" pitchFamily="18" charset="0"/>
              </a:rPr>
              <a:t>The AI Chat feature helps users make better use of the website and provides additional career advice based on the website’s content.</a:t>
            </a:r>
          </a:p>
          <a:p>
            <a:endParaRPr kumimoji="1" lang="zh-CN" altLang="en-US" sz="15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F68CEDB-C9AD-EA85-B0AB-D3C207FBC249}"/>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2401863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8CCB5-61BA-3C19-52DD-B7D2DDCE643F}"/>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4972BFD2-AB71-3F16-873F-47A8EA1D03E6}"/>
              </a:ext>
            </a:extLst>
          </p:cNvPr>
          <p:cNvSpPr/>
          <p:nvPr/>
        </p:nvSpPr>
        <p:spPr>
          <a:xfrm>
            <a:off x="10878846" y="635156"/>
            <a:ext cx="1152887" cy="1357790"/>
          </a:xfrm>
          <a:custGeom>
            <a:avLst/>
            <a:gdLst/>
            <a:ahLst/>
            <a:cxnLst/>
            <a:rect l="l" t="t" r="r" b="b"/>
            <a:pathLst>
              <a:path w="1729331" h="2036685">
                <a:moveTo>
                  <a:pt x="0" y="0"/>
                </a:moveTo>
                <a:lnTo>
                  <a:pt x="1729331" y="0"/>
                </a:lnTo>
                <a:lnTo>
                  <a:pt x="1729331" y="2036685"/>
                </a:lnTo>
                <a:lnTo>
                  <a:pt x="0" y="20366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zh-CN" altLang="en-US" sz="1200"/>
          </a:p>
        </p:txBody>
      </p:sp>
      <p:sp>
        <p:nvSpPr>
          <p:cNvPr id="10" name="Freeform 10">
            <a:extLst>
              <a:ext uri="{FF2B5EF4-FFF2-40B4-BE49-F238E27FC236}">
                <a16:creationId xmlns:a16="http://schemas.microsoft.com/office/drawing/2014/main" id="{2C2ED55D-A7C2-DD1F-18CF-AD43673023DF}"/>
              </a:ext>
            </a:extLst>
          </p:cNvPr>
          <p:cNvSpPr/>
          <p:nvPr/>
        </p:nvSpPr>
        <p:spPr>
          <a:xfrm rot="-7750267" flipV="1">
            <a:off x="270904" y="2259895"/>
            <a:ext cx="1114518" cy="1228427"/>
          </a:xfrm>
          <a:custGeom>
            <a:avLst/>
            <a:gdLst/>
            <a:ahLst/>
            <a:cxnLst/>
            <a:rect l="l" t="t" r="r" b="b"/>
            <a:pathLst>
              <a:path w="1671777" h="1842640">
                <a:moveTo>
                  <a:pt x="0" y="1842640"/>
                </a:moveTo>
                <a:lnTo>
                  <a:pt x="1671777" y="1842640"/>
                </a:lnTo>
                <a:lnTo>
                  <a:pt x="1671777" y="0"/>
                </a:lnTo>
                <a:lnTo>
                  <a:pt x="0" y="0"/>
                </a:lnTo>
                <a:lnTo>
                  <a:pt x="0" y="184264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zh-CN" altLang="en-US" sz="1200"/>
          </a:p>
        </p:txBody>
      </p:sp>
      <p:sp>
        <p:nvSpPr>
          <p:cNvPr id="18" name="TextBox 18">
            <a:extLst>
              <a:ext uri="{FF2B5EF4-FFF2-40B4-BE49-F238E27FC236}">
                <a16:creationId xmlns:a16="http://schemas.microsoft.com/office/drawing/2014/main" id="{8041F849-1B35-5F41-2B8B-217181EEB233}"/>
              </a:ext>
            </a:extLst>
          </p:cNvPr>
          <p:cNvSpPr txBox="1"/>
          <p:nvPr/>
        </p:nvSpPr>
        <p:spPr>
          <a:xfrm>
            <a:off x="8644380" y="4059238"/>
            <a:ext cx="3076337" cy="1949188"/>
          </a:xfrm>
          <a:prstGeom prst="rect">
            <a:avLst/>
          </a:prstGeom>
        </p:spPr>
        <p:txBody>
          <a:bodyPr lIns="0" tIns="0" rIns="0" bIns="0" rtlCol="0" anchor="t">
            <a:spAutoFit/>
          </a:bodyPr>
          <a:lstStyle/>
          <a:p>
            <a:pPr>
              <a:lnSpc>
                <a:spcPts val="2224"/>
              </a:lnSpc>
            </a:pPr>
            <a:r>
              <a:rPr lang="en-US" sz="1324" dirty="0">
                <a:solidFill>
                  <a:srgbClr val="FFFFFF"/>
                </a:solidFill>
                <a:latin typeface="思源黑体 2"/>
                <a:ea typeface="思源黑体 2"/>
                <a:cs typeface="思源黑体 2"/>
                <a:sym typeface="思源黑体 2"/>
              </a:rPr>
              <a:t>· Recommendations for mainstream technical positions (SDE, AI, data science, etc.)</a:t>
            </a:r>
          </a:p>
          <a:p>
            <a:pPr>
              <a:lnSpc>
                <a:spcPts val="2224"/>
              </a:lnSpc>
            </a:pPr>
            <a:r>
              <a:rPr lang="en-US" sz="1324" dirty="0">
                <a:solidFill>
                  <a:srgbClr val="FFFFFF"/>
                </a:solidFill>
                <a:latin typeface="思源黑体 2"/>
                <a:ea typeface="思源黑体 2"/>
                <a:cs typeface="思源黑体 2"/>
                <a:sym typeface="思源黑体 2"/>
              </a:rPr>
              <a:t>· Job postings and requirements from renowned technology companies</a:t>
            </a:r>
          </a:p>
          <a:p>
            <a:pPr>
              <a:lnSpc>
                <a:spcPts val="2224"/>
              </a:lnSpc>
            </a:pPr>
            <a:r>
              <a:rPr lang="en-US" sz="1324" dirty="0">
                <a:solidFill>
                  <a:srgbClr val="FFFFFF"/>
                </a:solidFill>
                <a:latin typeface="思源黑体 2"/>
                <a:ea typeface="思源黑体 2"/>
                <a:cs typeface="思源黑体 2"/>
                <a:sym typeface="思源黑体 2"/>
              </a:rPr>
              <a:t>· Skill matching suggestions and career development paths</a:t>
            </a:r>
          </a:p>
        </p:txBody>
      </p:sp>
      <p:sp>
        <p:nvSpPr>
          <p:cNvPr id="30" name="TextBox 5">
            <a:extLst>
              <a:ext uri="{FF2B5EF4-FFF2-40B4-BE49-F238E27FC236}">
                <a16:creationId xmlns:a16="http://schemas.microsoft.com/office/drawing/2014/main" id="{A9E0A918-DA37-1C6B-A826-92CBBE28B025}"/>
              </a:ext>
            </a:extLst>
          </p:cNvPr>
          <p:cNvSpPr txBox="1"/>
          <p:nvPr/>
        </p:nvSpPr>
        <p:spPr>
          <a:xfrm>
            <a:off x="539012" y="296779"/>
            <a:ext cx="2175061" cy="172996"/>
          </a:xfrm>
          <a:prstGeom prst="rect">
            <a:avLst/>
          </a:prstGeom>
        </p:spPr>
        <p:txBody>
          <a:bodyPr lIns="0" tIns="0" rIns="0" bIns="0" rtlCol="0" anchor="t">
            <a:spAutoFit/>
          </a:bodyPr>
          <a:lstStyle/>
          <a:p>
            <a:pPr algn="just">
              <a:lnSpc>
                <a:spcPts val="1360"/>
              </a:lnSpc>
            </a:pPr>
            <a:r>
              <a:rPr lang="en-US" sz="1133" b="1" dirty="0">
                <a:solidFill>
                  <a:srgbClr val="1E1E1E"/>
                </a:solidFill>
                <a:latin typeface="思源黑体 2 Medium"/>
                <a:ea typeface="思源黑体 2 Medium"/>
                <a:cs typeface="思源黑体 2 Medium"/>
                <a:sym typeface="思源黑体 2 Medium"/>
              </a:rPr>
              <a:t>DC229226 Yiming Luo</a:t>
            </a:r>
          </a:p>
        </p:txBody>
      </p:sp>
      <p:sp>
        <p:nvSpPr>
          <p:cNvPr id="32" name="AutoShape 18">
            <a:extLst>
              <a:ext uri="{FF2B5EF4-FFF2-40B4-BE49-F238E27FC236}">
                <a16:creationId xmlns:a16="http://schemas.microsoft.com/office/drawing/2014/main" id="{FF8C6C9E-4AC5-6033-A0AA-2848FA3BCF7F}"/>
              </a:ext>
            </a:extLst>
          </p:cNvPr>
          <p:cNvSpPr/>
          <p:nvPr/>
        </p:nvSpPr>
        <p:spPr>
          <a:xfrm>
            <a:off x="1900657" y="388854"/>
            <a:ext cx="7814470" cy="6350"/>
          </a:xfrm>
          <a:prstGeom prst="line">
            <a:avLst/>
          </a:prstGeom>
          <a:ln w="9525" cap="flat">
            <a:solidFill>
              <a:srgbClr val="000000"/>
            </a:solidFill>
            <a:prstDash val="sysDot"/>
            <a:headEnd type="none" w="sm" len="sm"/>
            <a:tailEnd type="none" w="sm" len="sm"/>
          </a:ln>
        </p:spPr>
        <p:txBody>
          <a:bodyPr/>
          <a:lstStyle/>
          <a:p>
            <a:endParaRPr lang="zh-CN" altLang="en-US" sz="1200"/>
          </a:p>
        </p:txBody>
      </p:sp>
      <p:sp>
        <p:nvSpPr>
          <p:cNvPr id="4" name="文本框 3">
            <a:extLst>
              <a:ext uri="{FF2B5EF4-FFF2-40B4-BE49-F238E27FC236}">
                <a16:creationId xmlns:a16="http://schemas.microsoft.com/office/drawing/2014/main" id="{756075E2-59FB-0109-B7AF-A203A60357C4}"/>
              </a:ext>
            </a:extLst>
          </p:cNvPr>
          <p:cNvSpPr txBox="1"/>
          <p:nvPr/>
        </p:nvSpPr>
        <p:spPr>
          <a:xfrm>
            <a:off x="539012" y="579331"/>
            <a:ext cx="8604989" cy="461665"/>
          </a:xfrm>
          <a:prstGeom prst="rect">
            <a:avLst/>
          </a:prstGeom>
          <a:noFill/>
        </p:spPr>
        <p:txBody>
          <a:bodyPr wrap="square">
            <a:spAutoFit/>
          </a:bodyPr>
          <a:lstStyle/>
          <a:p>
            <a:r>
              <a:rPr kumimoji="1" lang="en-US" altLang="zh-CN" sz="2300" dirty="0">
                <a:latin typeface="Times New Roman" panose="02020603050405020304" pitchFamily="18" charset="0"/>
                <a:cs typeface="Times New Roman" panose="02020603050405020304" pitchFamily="18" charset="0"/>
              </a:rPr>
              <a:t>Summary</a:t>
            </a:r>
          </a:p>
        </p:txBody>
      </p:sp>
      <p:sp>
        <p:nvSpPr>
          <p:cNvPr id="2" name="文本框 1">
            <a:extLst>
              <a:ext uri="{FF2B5EF4-FFF2-40B4-BE49-F238E27FC236}">
                <a16:creationId xmlns:a16="http://schemas.microsoft.com/office/drawing/2014/main" id="{E322E657-3651-B1B9-BA67-6B1971C6B78F}"/>
              </a:ext>
            </a:extLst>
          </p:cNvPr>
          <p:cNvSpPr txBox="1"/>
          <p:nvPr/>
        </p:nvSpPr>
        <p:spPr>
          <a:xfrm>
            <a:off x="1371024" y="1150552"/>
            <a:ext cx="10260418" cy="5170646"/>
          </a:xfrm>
          <a:prstGeom prst="rect">
            <a:avLst/>
          </a:prstGeom>
          <a:noFill/>
        </p:spPr>
        <p:txBody>
          <a:bodyPr wrap="square" rtlCol="0">
            <a:spAutoFit/>
          </a:bodyPr>
          <a:lstStyle/>
          <a:p>
            <a:r>
              <a:rPr lang="en-US" altLang="zh-CN" sz="1500" b="1" dirty="0">
                <a:latin typeface="Times New Roman" panose="02020603050405020304" pitchFamily="18" charset="0"/>
                <a:cs typeface="Times New Roman" panose="02020603050405020304" pitchFamily="18" charset="0"/>
              </a:rPr>
              <a:t>Designed and developed the overall page structure</a:t>
            </a:r>
            <a:endParaRPr lang="en-US" altLang="zh-CN" sz="1500" dirty="0">
              <a:latin typeface="Times New Roman" panose="02020603050405020304" pitchFamily="18" charset="0"/>
              <a:cs typeface="Times New Roman" panose="02020603050405020304" pitchFamily="18" charset="0"/>
            </a:endParaRPr>
          </a:p>
          <a:p>
            <a:pPr lvl="1"/>
            <a:r>
              <a:rPr lang="en-US" altLang="zh-CN" sz="1500" dirty="0">
                <a:latin typeface="Times New Roman" panose="02020603050405020304" pitchFamily="18" charset="0"/>
                <a:cs typeface="Times New Roman" panose="02020603050405020304" pitchFamily="18" charset="0"/>
              </a:rPr>
              <a:t>Designed the general layout and structure of the website.</a:t>
            </a:r>
          </a:p>
          <a:p>
            <a:pPr lvl="1"/>
            <a:r>
              <a:rPr lang="en-US" altLang="zh-CN" sz="1500" dirty="0">
                <a:latin typeface="Times New Roman" panose="02020603050405020304" pitchFamily="18" charset="0"/>
                <a:cs typeface="Times New Roman" panose="02020603050405020304" pitchFamily="18" charset="0"/>
              </a:rPr>
              <a:t>Organized the website into multiple sections.</a:t>
            </a:r>
          </a:p>
          <a:p>
            <a:pPr lvl="1"/>
            <a:r>
              <a:rPr lang="en-US" altLang="zh-CN" sz="1500" dirty="0">
                <a:latin typeface="Times New Roman" panose="02020603050405020304" pitchFamily="18" charset="0"/>
                <a:cs typeface="Times New Roman" panose="02020603050405020304" pitchFamily="18" charset="0"/>
              </a:rPr>
              <a:t>Helped users navigate academic, career, job, and AI-assisted planning resources.</a:t>
            </a:r>
          </a:p>
          <a:p>
            <a:r>
              <a:rPr lang="en-US" altLang="zh-CN" sz="1500" b="1" dirty="0">
                <a:latin typeface="Times New Roman" panose="02020603050405020304" pitchFamily="18" charset="0"/>
                <a:cs typeface="Times New Roman" panose="02020603050405020304" pitchFamily="18" charset="0"/>
              </a:rPr>
              <a:t>Designed and developed the Master’s Page</a:t>
            </a:r>
            <a:endParaRPr lang="en-US" altLang="zh-CN" sz="1500" dirty="0">
              <a:latin typeface="Times New Roman" panose="02020603050405020304" pitchFamily="18" charset="0"/>
              <a:cs typeface="Times New Roman" panose="02020603050405020304" pitchFamily="18" charset="0"/>
            </a:endParaRPr>
          </a:p>
          <a:p>
            <a:pPr lvl="1"/>
            <a:r>
              <a:rPr lang="en-US" altLang="zh-CN" sz="1500" dirty="0">
                <a:latin typeface="Times New Roman" panose="02020603050405020304" pitchFamily="18" charset="0"/>
                <a:cs typeface="Times New Roman" panose="02020603050405020304" pitchFamily="18" charset="0"/>
              </a:rPr>
              <a:t>Introduced how students can prepare for Master’s applications.</a:t>
            </a:r>
          </a:p>
          <a:p>
            <a:pPr lvl="1"/>
            <a:r>
              <a:rPr lang="en-US" altLang="zh-CN" sz="1500" dirty="0">
                <a:latin typeface="Times New Roman" panose="02020603050405020304" pitchFamily="18" charset="0"/>
                <a:cs typeface="Times New Roman" panose="02020603050405020304" pitchFamily="18" charset="0"/>
              </a:rPr>
              <a:t>Presented a wide range of graduate programs.</a:t>
            </a:r>
          </a:p>
          <a:p>
            <a:pPr lvl="1"/>
            <a:r>
              <a:rPr lang="en-US" altLang="zh-CN" sz="1500" dirty="0">
                <a:latin typeface="Times New Roman" panose="02020603050405020304" pitchFamily="18" charset="0"/>
                <a:cs typeface="Times New Roman" panose="02020603050405020304" pitchFamily="18" charset="0"/>
              </a:rPr>
              <a:t>Added keyword search and</a:t>
            </a:r>
            <a:r>
              <a:rPr lang="zh-CN" altLang="en-US" sz="1500" dirty="0">
                <a:latin typeface="Times New Roman" panose="02020603050405020304" pitchFamily="18" charset="0"/>
                <a:cs typeface="Times New Roman" panose="02020603050405020304" pitchFamily="18" charset="0"/>
              </a:rPr>
              <a:t> </a:t>
            </a:r>
            <a:r>
              <a:rPr lang="en-US" altLang="zh-CN" sz="1500" dirty="0">
                <a:latin typeface="Times New Roman" panose="02020603050405020304" pitchFamily="18" charset="0"/>
                <a:cs typeface="Times New Roman" panose="02020603050405020304" pitchFamily="18" charset="0"/>
              </a:rPr>
              <a:t>filters based on region and application difficulty.</a:t>
            </a:r>
          </a:p>
          <a:p>
            <a:pPr lvl="1"/>
            <a:r>
              <a:rPr lang="en-US" altLang="zh-CN" sz="1500" dirty="0">
                <a:latin typeface="Times New Roman" panose="02020603050405020304" pitchFamily="18" charset="0"/>
                <a:cs typeface="Times New Roman" panose="02020603050405020304" pitchFamily="18" charset="0"/>
              </a:rPr>
              <a:t>Provided direct links to official university graduate program pages.</a:t>
            </a:r>
          </a:p>
          <a:p>
            <a:r>
              <a:rPr lang="en-US" altLang="zh-CN" sz="1500" b="1" dirty="0">
                <a:latin typeface="Times New Roman" panose="02020603050405020304" pitchFamily="18" charset="0"/>
                <a:cs typeface="Times New Roman" panose="02020603050405020304" pitchFamily="18" charset="0"/>
              </a:rPr>
              <a:t>Designed and developed the Careers Page</a:t>
            </a:r>
            <a:endParaRPr lang="en-US" altLang="zh-CN" sz="1500" dirty="0">
              <a:latin typeface="Times New Roman" panose="02020603050405020304" pitchFamily="18" charset="0"/>
              <a:cs typeface="Times New Roman" panose="02020603050405020304" pitchFamily="18" charset="0"/>
            </a:endParaRPr>
          </a:p>
          <a:p>
            <a:pPr lvl="1"/>
            <a:r>
              <a:rPr lang="en-US" altLang="zh-CN" sz="1500" dirty="0">
                <a:latin typeface="Times New Roman" panose="02020603050405020304" pitchFamily="18" charset="0"/>
                <a:cs typeface="Times New Roman" panose="02020603050405020304" pitchFamily="18" charset="0"/>
              </a:rPr>
              <a:t>Designed the page to support students’ career planning.</a:t>
            </a:r>
          </a:p>
          <a:p>
            <a:pPr lvl="1"/>
            <a:r>
              <a:rPr lang="en-US" altLang="zh-CN" sz="1500" dirty="0">
                <a:latin typeface="Times New Roman" panose="02020603050405020304" pitchFamily="18" charset="0"/>
                <a:cs typeface="Times New Roman" panose="02020603050405020304" pitchFamily="18" charset="0"/>
              </a:rPr>
              <a:t>Helped students understand different career directions in computer science.</a:t>
            </a:r>
          </a:p>
          <a:p>
            <a:r>
              <a:rPr lang="en-US" altLang="zh-CN" sz="1500" b="1" dirty="0">
                <a:latin typeface="Times New Roman" panose="02020603050405020304" pitchFamily="18" charset="0"/>
                <a:cs typeface="Times New Roman" panose="02020603050405020304" pitchFamily="18" charset="0"/>
              </a:rPr>
              <a:t>Designed and developed the Jobs Page</a:t>
            </a:r>
            <a:endParaRPr lang="en-US" altLang="zh-CN" sz="1500" dirty="0">
              <a:latin typeface="Times New Roman" panose="02020603050405020304" pitchFamily="18" charset="0"/>
              <a:cs typeface="Times New Roman" panose="02020603050405020304" pitchFamily="18" charset="0"/>
            </a:endParaRPr>
          </a:p>
          <a:p>
            <a:pPr lvl="1"/>
            <a:r>
              <a:rPr lang="en-US" altLang="zh-CN" sz="1500" dirty="0">
                <a:latin typeface="Times New Roman" panose="02020603050405020304" pitchFamily="18" charset="0"/>
                <a:cs typeface="Times New Roman" panose="02020603050405020304" pitchFamily="18" charset="0"/>
              </a:rPr>
              <a:t>Designed the page to help students find open positions.</a:t>
            </a:r>
          </a:p>
          <a:p>
            <a:pPr lvl="1"/>
            <a:r>
              <a:rPr lang="en-US" altLang="zh-CN" sz="1500" dirty="0">
                <a:latin typeface="Times New Roman" panose="02020603050405020304" pitchFamily="18" charset="0"/>
                <a:cs typeface="Times New Roman" panose="02020603050405020304" pitchFamily="18" charset="0"/>
              </a:rPr>
              <a:t>Helped students understand which jobs are currently available for application.</a:t>
            </a:r>
          </a:p>
          <a:p>
            <a:pPr lvl="1"/>
            <a:r>
              <a:rPr lang="en-US" altLang="zh-CN" sz="1500" dirty="0">
                <a:latin typeface="Times New Roman" panose="02020603050405020304" pitchFamily="18" charset="0"/>
                <a:cs typeface="Times New Roman" panose="02020603050405020304" pitchFamily="18" charset="0"/>
              </a:rPr>
              <a:t>Divided all positions into six categories, create category-based filtering and keyword-based job search.</a:t>
            </a:r>
          </a:p>
          <a:p>
            <a:pPr lvl="1"/>
            <a:r>
              <a:rPr lang="en-US" altLang="zh-CN" sz="1500" dirty="0">
                <a:latin typeface="Times New Roman" panose="02020603050405020304" pitchFamily="18" charset="0"/>
                <a:cs typeface="Times New Roman" panose="02020603050405020304" pitchFamily="18" charset="0"/>
              </a:rPr>
              <a:t>Provided company links for specific job categories.</a:t>
            </a:r>
          </a:p>
          <a:p>
            <a:r>
              <a:rPr lang="en-US" altLang="zh-CN" sz="1500" b="1" dirty="0">
                <a:latin typeface="Times New Roman" panose="02020603050405020304" pitchFamily="18" charset="0"/>
                <a:cs typeface="Times New Roman" panose="02020603050405020304" pitchFamily="18" charset="0"/>
              </a:rPr>
              <a:t>Designed and developed the AI Chat Page</a:t>
            </a:r>
            <a:endParaRPr lang="en-US" altLang="zh-CN" sz="1500" dirty="0">
              <a:latin typeface="Times New Roman" panose="02020603050405020304" pitchFamily="18" charset="0"/>
              <a:cs typeface="Times New Roman" panose="02020603050405020304" pitchFamily="18" charset="0"/>
            </a:endParaRPr>
          </a:p>
          <a:p>
            <a:pPr lvl="1"/>
            <a:r>
              <a:rPr lang="en-US" altLang="zh-CN" sz="1500" dirty="0">
                <a:latin typeface="Times New Roman" panose="02020603050405020304" pitchFamily="18" charset="0"/>
                <a:cs typeface="Times New Roman" panose="02020603050405020304" pitchFamily="18" charset="0"/>
              </a:rPr>
              <a:t>Designed the AI Chat feature to support academic and career planning.</a:t>
            </a:r>
          </a:p>
          <a:p>
            <a:pPr lvl="1"/>
            <a:r>
              <a:rPr lang="en-US" altLang="zh-CN" sz="1500" dirty="0">
                <a:latin typeface="Times New Roman" panose="02020603050405020304" pitchFamily="18" charset="0"/>
                <a:cs typeface="Times New Roman" panose="02020603050405020304" pitchFamily="18" charset="0"/>
              </a:rPr>
              <a:t>Allowed users to interact with the AI assistant after logging in.</a:t>
            </a:r>
          </a:p>
          <a:p>
            <a:pPr lvl="1"/>
            <a:r>
              <a:rPr lang="en-US" altLang="zh-CN" sz="1500" dirty="0">
                <a:latin typeface="Times New Roman" panose="02020603050405020304" pitchFamily="18" charset="0"/>
                <a:cs typeface="Times New Roman" panose="02020603050405020304" pitchFamily="18" charset="0"/>
              </a:rPr>
              <a:t>Supported personalized planning for students’ future development.</a:t>
            </a:r>
          </a:p>
          <a:p>
            <a:endParaRPr kumimoji="1" lang="zh-CN" altLang="en-US" sz="15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9F2CE3D-785A-D72F-3498-F1593535EAD1}"/>
              </a:ext>
            </a:extLst>
          </p:cNvPr>
          <p:cNvSpPr txBox="1"/>
          <p:nvPr/>
        </p:nvSpPr>
        <p:spPr>
          <a:xfrm>
            <a:off x="8911455" y="309900"/>
            <a:ext cx="2719987" cy="176587"/>
          </a:xfrm>
          <a:prstGeom prst="rect">
            <a:avLst/>
          </a:prstGeom>
        </p:spPr>
        <p:txBody>
          <a:bodyPr lIns="0" tIns="0" rIns="0" bIns="0" rtlCol="0" anchor="t">
            <a:spAutoFit/>
          </a:bodyPr>
          <a:lstStyle>
            <a:defPPr>
              <a:defRPr lang="zh-CN"/>
            </a:defPPr>
            <a:lvl1pPr algn="r">
              <a:lnSpc>
                <a:spcPts val="1477"/>
              </a:lnSpc>
              <a:defRPr sz="978" b="1">
                <a:solidFill>
                  <a:srgbClr val="1E1E1E"/>
                </a:solidFill>
                <a:latin typeface="Anantason SemiExpanded Medium"/>
                <a:ea typeface="Anantason SemiExpanded Medium"/>
                <a:cs typeface="Anantason SemiExpanded Medium"/>
              </a:defRPr>
            </a:lvl1pPr>
          </a:lstStyle>
          <a:p>
            <a:r>
              <a:rPr lang="en-US" altLang="zh-CN" dirty="0"/>
              <a:t>Individual Digital Story</a:t>
            </a:r>
            <a:endParaRPr lang="en-US" dirty="0">
              <a:sym typeface="Anantason SemiExpanded Medium"/>
            </a:endParaRPr>
          </a:p>
        </p:txBody>
      </p:sp>
    </p:spTree>
    <p:extLst>
      <p:ext uri="{BB962C8B-B14F-4D97-AF65-F5344CB8AC3E}">
        <p14:creationId xmlns:p14="http://schemas.microsoft.com/office/powerpoint/2010/main" val="306833246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2216</Words>
  <Application>Microsoft Macintosh PowerPoint</Application>
  <PresentationFormat>宽屏</PresentationFormat>
  <Paragraphs>220</Paragraphs>
  <Slides>18</Slides>
  <Notes>16</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等线</vt:lpstr>
      <vt:lpstr>等线 Light</vt:lpstr>
      <vt:lpstr>思源黑体 2</vt:lpstr>
      <vt:lpstr>思源黑体 2 Bold</vt:lpstr>
      <vt:lpstr>思源黑体 2 Medium</vt:lpstr>
      <vt:lpstr>Akzidenz-Grotesk Bold</vt:lpstr>
      <vt:lpstr>Anantason SemiExpanded Medium</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 L</dc:creator>
  <cp:lastModifiedBy>C L</cp:lastModifiedBy>
  <cp:revision>3</cp:revision>
  <dcterms:created xsi:type="dcterms:W3CDTF">2026-05-10T11:48:17Z</dcterms:created>
  <dcterms:modified xsi:type="dcterms:W3CDTF">2026-05-10T13:29:59Z</dcterms:modified>
</cp:coreProperties>
</file>